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E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PNS 2019  ·  ARTRITE E REUMATISMO EM IDOSOS BRASILEIROS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14173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 de Entropia para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Seleção de Atributos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06 — Mineração de Dados em Saúde · Metodologia LICAP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41248" y="3703320"/>
            <a:ext cx="3291840" cy="0"/>
          </a:xfrm>
          <a:prstGeom prst="line">
            <a:avLst/>
          </a:prstGeom>
          <a:noFill/>
          <a:ln w="12700">
            <a:solidFill>
              <a:srgbClr val="3353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840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Dias Soares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Prof. Dr. Luis Enrique Zárate — PUC Minas (LICAP)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223760" y="4343400"/>
            <a:ext cx="100584" cy="201168"/>
          </a:xfrm>
          <a:prstGeom prst="roundRect">
            <a:avLst>
              <a:gd name="adj" fmla="val 27273"/>
            </a:avLst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7370064" y="4178808"/>
            <a:ext cx="100584" cy="365760"/>
          </a:xfrm>
          <a:prstGeom prst="roundRect">
            <a:avLst>
              <a:gd name="adj" fmla="val 27273"/>
            </a:avLst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7516368" y="4270248"/>
            <a:ext cx="100584" cy="274320"/>
          </a:xfrm>
          <a:prstGeom prst="roundRect">
            <a:avLst>
              <a:gd name="adj" fmla="val 27273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7662672" y="4041648"/>
            <a:ext cx="100584" cy="502920"/>
          </a:xfrm>
          <a:prstGeom prst="roundRect">
            <a:avLst>
              <a:gd name="adj" fmla="val 27273"/>
            </a:avLst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808976" y="4197096"/>
            <a:ext cx="100584" cy="347472"/>
          </a:xfrm>
          <a:prstGeom prst="roundRect">
            <a:avLst>
              <a:gd name="adj" fmla="val 27273"/>
            </a:avLst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5280" y="3977640"/>
            <a:ext cx="100584" cy="566928"/>
          </a:xfrm>
          <a:prstGeom prst="roundRect">
            <a:avLst>
              <a:gd name="adj" fmla="val 27273"/>
            </a:avLst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Roteiro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8640" cy="548640"/>
          </a:xfrm>
          <a:prstGeom prst="ellipse">
            <a:avLst/>
          </a:prstGeom>
          <a:solidFill>
            <a:srgbClr val="0E5C6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70432" y="147218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análise de entropia, e onde entra no KDD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00600" y="1508760"/>
            <a:ext cx="548640" cy="548640"/>
          </a:xfrm>
          <a:prstGeom prst="ellipse">
            <a:avLst/>
          </a:prstGeom>
          <a:solidFill>
            <a:srgbClr val="0E5C6B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513832" y="147218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Fundamentação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usos de entropia (slides do professor)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587752"/>
            <a:ext cx="548640" cy="548640"/>
          </a:xfrm>
          <a:prstGeom prst="ellipse">
            <a:avLst/>
          </a:prstGeom>
          <a:solidFill>
            <a:srgbClr val="0E5C6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87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70432" y="255117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Literatura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artigos do LICAP fizeram com entropia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00600" y="2587752"/>
            <a:ext cx="548640" cy="548640"/>
          </a:xfrm>
          <a:prstGeom prst="ellipse">
            <a:avLst/>
          </a:prstGeom>
          <a:solidFill>
            <a:srgbClr val="0E5C6B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587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513832" y="255117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(IG · Gain Ratio · SU) e decisões fixadas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66674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66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70432" y="363016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Ranking, calibração do corte e seleção final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00600" y="3666744"/>
            <a:ext cx="548640" cy="548640"/>
          </a:xfrm>
          <a:prstGeom prst="ellipse">
            <a:avLst/>
          </a:prstGeom>
          <a:solidFill>
            <a:srgbClr val="0E5C6B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666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13832" y="363016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 e próximos passos (modelagem)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486460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Entropia · NB06 · PNS 2019 — Artrite em Idosos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análise de entropia?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5074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de seleção de atributos do KDD</a:t>
            </a:r>
            <a:endParaRPr lang="en-US" sz="1350" dirty="0"/>
          </a:p>
          <a:p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executada antes da modelagem, sobre os dados já discretizados (NB04).</a:t>
            </a:r>
            <a:endParaRPr lang="en-US" sz="1350" dirty="0"/>
          </a:p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a redução de incerteza da classe</a:t>
            </a:r>
            <a:endParaRPr lang="en-US" sz="1350" dirty="0"/>
          </a:p>
          <a:p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cada atributo ajuda a separar Saudável × Com Artrite.</a:t>
            </a:r>
            <a:endParaRPr lang="en-US" sz="1350" dirty="0"/>
          </a:p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 que não informa</a:t>
            </a:r>
            <a:endParaRPr lang="en-US" sz="1350" dirty="0"/>
          </a:p>
          <a:p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mais simples e interpretáveis (árvores, dimensões CAPTO).</a:t>
            </a:r>
            <a:endParaRPr lang="en-US" sz="1350" dirty="0"/>
          </a:p>
          <a:p>
            <a:pPr marL="177800" indent="-177800">
              <a:lnSpc>
                <a:spcPct val="104000"/>
              </a:lnSpc>
              <a:buSzPct val="100000"/>
              <a:buChar char="•"/>
            </a:pPr>
            <a:r>
              <a:rPr lang="en-US" sz="1350" b="1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Checagem independente do modelo</a:t>
            </a:r>
            <a:endParaRPr lang="en-US" sz="13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ranking cruza com o feature_importances das árvores.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06440" y="1481328"/>
            <a:ext cx="2880360" cy="3108960"/>
          </a:xfrm>
          <a:prstGeom prst="roundRect">
            <a:avLst>
              <a:gd name="adj" fmla="val 2540"/>
            </a:avLst>
          </a:prstGeom>
          <a:solidFill>
            <a:srgbClr val="F4F8FA"/>
          </a:solidFill>
          <a:ln w="12700">
            <a:solidFill>
              <a:srgbClr val="CBD7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3504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ENTRA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35040" y="1965960"/>
            <a:ext cx="24231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B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44768" y="1965960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  </a:t>
            </a:r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Discretização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0" y="2459736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0" y="2624328"/>
            <a:ext cx="24231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B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262432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  </a:t>
            </a:r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× teste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311810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3282696"/>
            <a:ext cx="2423160" cy="512064"/>
          </a:xfrm>
          <a:prstGeom prst="roundRect">
            <a:avLst>
              <a:gd name="adj" fmla="val 1071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3282696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Entropia  </a:t>
            </a:r>
            <a:pPr indent="0" marL="0">
              <a:buNone/>
            </a:pPr>
            <a:r>
              <a:rPr lang="en-US" sz="1050" dirty="0">
                <a:solidFill>
                  <a:srgbClr val="E6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(esta etapa)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377647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3941064"/>
            <a:ext cx="24231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B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3941064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NB06 §4  </a:t>
            </a:r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ML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6460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Entropia · NB06 · PNS 2019 — Artrite em Idosos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FUNDAMENTAÇÃO — SLIDES INTRODUÇÃO 15/16 (PROF. ZÁRATE)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usos de entropia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BD7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83080"/>
            <a:ext cx="566928" cy="566928"/>
          </a:xfrm>
          <a:prstGeom prst="ellipse">
            <a:avLst/>
          </a:prstGeom>
          <a:solidFill>
            <a:srgbClr val="627D9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Entropia univariada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29077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2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H(X) = −Σ p·log₂p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3246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atributo quase-constante (sem informação). Sinaliza colunas degeneradas.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73552" y="155448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ECF6F8"/>
          </a:solidFill>
          <a:ln w="12700">
            <a:solidFill>
              <a:srgbClr val="CBD7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1554480"/>
            <a:ext cx="260604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1783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7472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Ganho de informação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29077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 = H(C) − H(C|A)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74720" y="3246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Ranqueia atributos pela capacidade de diferenciar as classes. É a base desta análise.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89904" y="155448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BD7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91072" y="1783080"/>
            <a:ext cx="566928" cy="566928"/>
          </a:xfrm>
          <a:prstGeom prst="ellipse">
            <a:avLst/>
          </a:prstGeom>
          <a:solidFill>
            <a:srgbClr val="627D98"/>
          </a:solidFill>
          <a:ln/>
        </p:spPr>
      </p:sp>
      <p:sp>
        <p:nvSpPr>
          <p:cNvPr id="19" name="Text 17"/>
          <p:cNvSpPr/>
          <p:nvPr/>
        </p:nvSpPr>
        <p:spPr>
          <a:xfrm>
            <a:off x="6291072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91072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Entropia de similaridade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1072" y="29077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2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Gower + Dash–Liu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91072" y="3246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subconjuntos redundantes por eliminação backward. Nenhum paper a aplicou.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Adotamos o uso </a:t>
            </a:r>
            <a:pPr algn="ct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— Camada 1</a:t>
            </a:r>
            <a:pPr algn="ctr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como o paper-irmão de Artrite + Depressão (art_d, SBBD 2025).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486460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Entropia · NB06 · PNS 2019 — Artrite em Idosos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LITERATURA — 6 ARTIGOS DO LICAP SOBRE A PNS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os artigos fizeram com entropia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Artigo (doença)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de entropia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5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Artrite + Depressão  (art_d, 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Entropia vs. classe (B)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Manteve todos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Depressão  (art_c)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 entropia (A)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Removeu 3 atributos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AVC  (art_b)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Correlação + entropia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removeu nada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DPOC  (art_01)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feature_importances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Pós-modelagem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0690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CF6F8"/>
          </a:solidFill>
          <a:ln w="12700">
            <a:solidFill>
              <a:srgbClr val="CBD7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4069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usou o uso (C).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Seguimos o uso (B), igual ao art_d — o estudo mais próximo (artrite, idosos 60+, 3 classes).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486460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Entropia · NB06 · PNS 2019 — Artrite em Idosos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— COMO MEDIMOS (EM BITS, LOG₂)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Métricas de entropia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325880" cy="493776"/>
          </a:xfrm>
          <a:prstGeom prst="roundRect">
            <a:avLst>
              <a:gd name="adj" fmla="val 11111"/>
            </a:avLst>
          </a:prstGeom>
          <a:solidFill>
            <a:srgbClr val="0E5C6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81328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H(C)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874520" y="148132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Incerteza da classe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06240" y="1481328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−Σ p·log₂ 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1325880" cy="493776"/>
          </a:xfrm>
          <a:prstGeom prst="roundRect">
            <a:avLst>
              <a:gd name="adj" fmla="val 11111"/>
            </a:avLst>
          </a:prstGeom>
          <a:solidFill>
            <a:srgbClr val="0E5C6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84832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H(C|A)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874520" y="2084832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Incerteza restante dado o atributo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06240" y="2084832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P(a)·H(C|A=a)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1325880" cy="493776"/>
          </a:xfrm>
          <a:prstGeom prst="roundRect">
            <a:avLst>
              <a:gd name="adj" fmla="val 11111"/>
            </a:avLst>
          </a:prstGeom>
          <a:solidFill>
            <a:srgbClr val="0E5C6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88336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874520" y="2688336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informação (= info. mútua)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06240" y="2688336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H(C) − H(C|A)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1325880" cy="493776"/>
          </a:xfrm>
          <a:prstGeom prst="roundRect">
            <a:avLst>
              <a:gd name="adj" fmla="val 11111"/>
            </a:avLst>
          </a:prstGeom>
          <a:solidFill>
            <a:srgbClr val="0E5C6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91840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Gain Ratio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874520" y="329184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normalizado pela entropia de 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06240" y="3291840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 / H(A)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5532120" cy="530352"/>
          </a:xfrm>
          <a:prstGeom prst="roundRect">
            <a:avLst>
              <a:gd name="adj" fmla="val 10345"/>
            </a:avLst>
          </a:prstGeom>
          <a:solidFill>
            <a:srgbClr val="ECF6F8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3192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  </a:t>
            </a:r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2·IG / (H(C)+H(A)) ∈ [0,1] — primária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1481328"/>
            <a:ext cx="2514600" cy="2980944"/>
          </a:xfrm>
          <a:prstGeom prst="roundRect">
            <a:avLst>
              <a:gd name="adj" fmla="val 2909"/>
            </a:avLst>
          </a:prstGeom>
          <a:solidFill>
            <a:srgbClr val="F4F8FA"/>
          </a:solidFill>
          <a:ln w="12700">
            <a:solidFill>
              <a:srgbClr val="CBD7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5508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a SU?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55080" y="2057400"/>
            <a:ext cx="2148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atributos têm de 2 a 22 níveis.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IG cru favorece os de muitos níveis.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 normaliza isso e torna a comparação entre atributos justa.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486460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Entropia · NB06 · PNS 2019 — Artrite em Idosos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— DECISÕES FIXADAS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Decisões metodológicas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01752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Camada de entropia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ranking IG · Gain Ratio · SU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art_d (paper-irmão)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Seleção (remove atributos)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art_c (Depressão)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 de corte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E5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Conservadora: SU &lt; 0,001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só dummies vazios; preserva o CAPTO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da medida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Treino balanceado (RUS)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H(C)≈1; torna D1 e D2 comparáveis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Permutação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p-valor descritivo (n=200)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Mostra que o sinal é fraco — não corta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Vazamento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Ajuste só no treino (teste held-out)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leakage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6460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Entropia · NB06 · PNS 2019 — Artrite em Idosos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— ANTI-VAZAMENTO (NB03/03B · ETAPA 12)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modelo NÃO vê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variável-alvo (artrite) e as 13 doenças crônicas que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definem as coortes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são filtro amostral — removidas das features. Se ficassem, preveriam artrite com erro ≈ 0 (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vazamento circular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BEEEC"/>
          </a:solidFill>
          <a:ln w="12700">
            <a:solidFill>
              <a:srgbClr val="CBD7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82296" cy="2103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4140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REMOVIDAS — filtro de coorte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274320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Q079 Artrite (alvo) · Q03001 Diabetes · Q00201 Hipertensão · Q06306 Cardíaca · Q068 AVC · Q092 Depressão · Q11604 DPOC · Q120 Câncer · Q074 Asma · Q124 Renal 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228600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EAF4EC"/>
          </a:solidFill>
          <a:ln w="12700">
            <a:solidFill>
              <a:srgbClr val="CBD7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286000"/>
            <a:ext cx="82296" cy="21031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24140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7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MANTIDAS — fatores exógenos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83480" y="274320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15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Sociodemográficas (sexo, idade, renda, escolaridade)</a:t>
            </a:r>
            <a:endParaRPr lang="en-US" sz="11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15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Hábitos (álcool, dieta, atividade física)</a:t>
            </a:r>
            <a:endParaRPr lang="en-US" sz="11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15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Antropometria (IMC) · uso de serviços de saúde</a:t>
            </a:r>
            <a:endParaRPr lang="en-US" sz="11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15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Percepção (autopercepção, sono, cansaço)</a:t>
            </a:r>
            <a:endParaRPr lang="en-US" sz="11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15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Q084 — problema de coluna (não é filtro)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o ranking de entropia não contém diabetes nem as demais comorbidades</a:t>
            </a:r>
            <a:pPr algn="ctr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só fatores exógenos.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86460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Entropia · NB06 · PNS 2019 — Artrite em Idosos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O ACHADO QUE GUIOU A SELEÇÃO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sinal é fraco — como nos papers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artrite pura (D1), o desbalanceamento 8,77:1 esmaga a entropia da classe. As entropias condicionais ficam </a:t>
            </a:r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indistinguíveis entre si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exatamente o que art_d e art_b relataram.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7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82296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39572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0,476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3200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H(C) natural no D1 (desbalanceado)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228600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7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63240" y="2286000"/>
            <a:ext cx="82296" cy="1417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239572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00400" y="32004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H(C) após balancear o treino (RUS)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07792" y="2990088"/>
            <a:ext cx="182880" cy="0"/>
          </a:xfrm>
          <a:prstGeom prst="line">
            <a:avLst/>
          </a:prstGeom>
          <a:noFill/>
          <a:ln w="19050">
            <a:solidFill>
              <a:srgbClr val="627D9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852160" y="228600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FBEEEC"/>
          </a:solidFill>
          <a:ln w="12700">
            <a:solidFill>
              <a:srgbClr val="CBD7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2395728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NÃO cortamos por significância.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de permutação removeria ~90 % dos atributos do D1 — indefensável e contra a própria conclusão dos papers.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Medimos sobre o treino balanceado e cortamos de forma conservadora.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86460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Entropia · NB06 · PNS 2019 — Artrite em Idosos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ESCOLHA DO LIMIAR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Calibração do corte (limiar de SU)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874520"/>
                <a:gridCol w="1874520"/>
                <a:gridCol w="32461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Limiar SU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 remove / mantém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remove / mantém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Substantivas perdidas (D1)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/ 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/ 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IMC, ativ. física, padrão alim., escolaridade, renda, álcool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/ 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/ 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ativ. física, padrão alim., renda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  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/ 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/ 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/ 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27D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CF6F8"/>
          </a:solidFill>
          <a:ln w="12700">
            <a:solidFill>
              <a:srgbClr val="CBD7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Escolhido 0,001: </a:t>
            </a:r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D1 não remove nenhuma variável substantiva; no D2 sai só a renda (VDF004). Preserva as dimensões do CAPTO.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486460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Entropia · NB06 · PNS 2019 — Artrite em Idosos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RANKING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Ranking de atributos por Incerteza Simétrica</a:t>
            </a:r>
            <a:endParaRPr lang="en-US" sz="2800" dirty="0"/>
          </a:p>
        </p:txBody>
      </p:sp>
      <p:pic>
        <p:nvPicPr>
          <p:cNvPr id="4" name="Image 0" descr="D:/Faculdade/Semestre 3/Mineração de Dados/Python/Projeto/Projeto_PNS/data/results/modelagem/figuras/entropia_ranking_s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3185" y="1325880"/>
            <a:ext cx="663763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por SU nos dois desenhos · treino balanceado · linha tracejada = corte 0,001 · barras vermelhas = mantidas.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486460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Entropia · NB06 · PNS 2019 — Artrite em Idosos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ATRIBUTOS MAIS INFORMATIVOS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atributos &amp; convergência com o art_d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52120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05840"/>
                <a:gridCol w="10058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 (código PNS)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· D1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· D2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6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Sexo — mulher  (C006)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 crônico de coluna  (Q084)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de consultas em 12 m  (J012)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Autopercepção de saúde  (N001)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Cansaço / falta de energia  (N011)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Problemas de sono  (N010)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3B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554480"/>
            <a:ext cx="2788920" cy="2834640"/>
          </a:xfrm>
          <a:prstGeom prst="roundRect">
            <a:avLst>
              <a:gd name="adj" fmla="val 2623"/>
            </a:avLst>
          </a:prstGeom>
          <a:solidFill>
            <a:srgbClr val="ECF6F8"/>
          </a:solidFill>
          <a:ln w="12700">
            <a:solidFill>
              <a:srgbClr val="CBD7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26480" y="205740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sem as comorbidades (excluídas como filtro), o topo coincide, de forma independente do modelo, com fatores que o art_d destacou: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E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sexo · autopercepção de saúde.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4805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com SU elevada e estável nos dois desenhos · treino balanceado (arredondados).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486460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Entropia · NB06 · PNS 2019 — Artrite em Idosos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SELEÇÃO FINAL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foi removido e o que ficou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7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Desenho 1 — Artrite pura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</a:t>
            </a:r>
            <a:pPr indent="0" marL="0">
              <a:buNone/>
            </a:pPr>
            <a:r>
              <a:rPr lang="en-US" sz="14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57 mantidos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removeu 18  </a:t>
            </a:r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só dummies one-hot vazios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4023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BD7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Desenho 2 — Artrite + comorbidades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20574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pPr indent="0" marL="0">
              <a:buNone/>
            </a:pPr>
            <a:r>
              <a:rPr lang="en-US" sz="14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55 mantidos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892040" y="2788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removeu 13  </a:t>
            </a:r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só dummies one-hot vazios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ECF6F8"/>
          </a:solidFill>
          <a:ln w="12700">
            <a:solidFill>
              <a:srgbClr val="CBD7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76732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variável substantiva foi removida.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43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removidos: J01002_Farmácia, P02601_Alto, P00612_Sim… (informação de classe ≈ 0). O conjunto mantido alimenta a modelagem como features_selecionadas['d1' | 'd2'].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486460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Entropia · NB06 · PNS 2019 — Artrite em Idosos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E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 &amp; PRÓXIMOS PASSOS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04672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entregamos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7772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enxuto e defensável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AE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D1: 39 atributos · D2: 42 — preservando todas as dimensões do CAPTO.</a:t>
            </a:r>
            <a:endParaRPr lang="en-US" sz="13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como evidência independente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AE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sexo e autopercepção de saúde no topo — convergem com o art_d (mesmo sem as comorbidades).</a:t>
            </a:r>
            <a:endParaRPr lang="en-US" sz="13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fiel ao orientador e sem vazamento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AE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(B) dos slides, medida balanceada, ajuste só no treino.</a:t>
            </a:r>
            <a:endParaRPr lang="en-US" sz="13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modelagem (NB06 §4)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 in-fold · Árvore/RF/Logística · CV 10-fold · cruzar importances × SU.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46817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Artefatos: data/results/modelagem/ (relatório JSON · tabelas CSV · figura) · Notebook 06 na main.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de Entropia — NB06 — PNS 2019 Artrite</dc:title>
  <dc:subject>PptxGenJS Presentation</dc:subject>
  <dc:creator>Pedro Dias Soares</dc:creator>
  <cp:lastModifiedBy>Pedro Dias Soares</cp:lastModifiedBy>
  <cp:revision>1</cp:revision>
  <dcterms:created xsi:type="dcterms:W3CDTF">2026-06-11T22:26:16Z</dcterms:created>
  <dcterms:modified xsi:type="dcterms:W3CDTF">2026-06-11T22:26:16Z</dcterms:modified>
</cp:coreProperties>
</file>
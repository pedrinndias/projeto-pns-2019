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MINERAÇÃO DE DADOS EM SAÚDE · PNS 2019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Nutrição e perfil sociodemográfico na artrite do idoso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supervisionada por ablação de blocos — o que diferencia idosos com artrite dos saudáveis?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· Floresta · Naïve-Bayes · Regressão Logística  ·  IRNI + Cluster alimentar in-fold  ·  RUS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5029200"/>
            <a:ext cx="3840480" cy="0"/>
          </a:xfrm>
          <a:prstGeom prst="line">
            <a:avLst/>
          </a:prstGeom>
          <a:noFill/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Dias Soares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Prof. Dr. Luis Enrique Zárate — PUC Minas (LICAP)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DE PESQUISA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é uma régua, não um diagnosticador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143000"/>
          </a:xfrm>
          <a:prstGeom prst="rect">
            <a:avLst/>
          </a:prstGeom>
          <a:solidFill>
            <a:srgbClr val="F4F6FB"/>
          </a:solidFill>
          <a:ln w="1651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“Quais padrões nutricionais e características sociodemográficas diferenciam, no Brasil, os idosos com artrite e reumatismo dos idosos saudáveis, segundo a PNS 2019 e com algoritmos supervisionados?”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52044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3246120"/>
            <a:ext cx="82296" cy="18288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dieta separa os grupos?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4114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o poder do bloco nutricional — isolado e somado ao resto.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80560" y="3246120"/>
            <a:ext cx="352044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3246120"/>
            <a:ext cx="82296" cy="182880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12" name="Text 10"/>
          <p:cNvSpPr/>
          <p:nvPr/>
        </p:nvSpPr>
        <p:spPr>
          <a:xfrm>
            <a:off x="4736592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Quais fatores, e em que ordem?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736592" y="4114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por SU, importância Gini e Odds Ratio ajustado.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21040" y="3246120"/>
            <a:ext cx="352044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3246120"/>
            <a:ext cx="82296" cy="182880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6" name="Text 14"/>
          <p:cNvSpPr/>
          <p:nvPr/>
        </p:nvSpPr>
        <p:spPr>
          <a:xfrm>
            <a:off x="8577072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8E44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dieta resiste ao ajuste?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577072" y="4114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sinal nutricional sobrevive ao controlar sexo, idade e saúde?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80644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84301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uso DESCRITIVO do supervisionado (regras + fatores), no estilo dos 6 trabalhos do grupo — não um classificador de produção.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RELACIONADOS · GRUPO LICAP (PNS 2019)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Seis estudos, uma mesma receita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566160"/>
                <a:gridCol w="1554480"/>
                <a:gridCol w="30175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Desbalanço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DPOC (CBIS'24)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 · NB · RF · MLP · AdaBoost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F1 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Hipertensão (CBIS'24)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J48 (regras) · RF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F1 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TOC (SBBD'24)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EBM · Árvore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+30,8% F1 ao somar bloco socioambiental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AVC idoso×meia-idade (SBBD'24)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Árvore de Decisão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perfis distintos por faixa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Depressão (SBBD'24)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 · NB · RF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F1 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Artrite+Depressão (SBBD'25)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 · RF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76–80% (irmão deste estudo)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52297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herdado: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usam CAPTO + faixas de domínio + RUS + Árvore/Floresta + F1 com IC95%. Adotamos a manobra do TOC — medir o GANHO ao acrescentar um bloco — para isolar a contribuição da nutrição.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ABLAÇÃO POR BLOCOS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conjuntos para medir o peso da dieta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93776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980B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sociodemográfico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 de base “quem é a pessoa”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nutrição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poder isolado da dieta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+ nutrição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da dieta sobre M0 — conjunto-resposta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+ controle (saúde, comorbidade…)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sem dieta, com confundidores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E44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 (socio+nutri+controle)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da dieta sobre Mc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881360" cy="868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49834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quantitativa: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ΔF1(nutrição) = F1(M2) − F1(M0)   e   F1(M3) − F1(Mc).  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≈ 0  ⇒  a dieta não diferencia além do resto.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598932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602589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 (regras), RF (desempenho), NB e LogReg (OR) · RandomizedSearchCV · RUS in-fold · 10-fold F1±IC95 · teste held-out desbalanceado.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NUTRIÇÃO ENTRA NO MODELO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eixo nutricional “os três juntos”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27432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Itens de frequência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5146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alimentos discretizados: feijão, frango, frutas, verduras, peixe, doces, refrigerante, tipo de leite, sal…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 (QUAL ALIMENTO)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1783080"/>
            <a:ext cx="35204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783080"/>
            <a:ext cx="82296" cy="274320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IRNI (contínuo)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36592" y="25146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inflamatório adaptado do DII (Shivappa 2014): Σ pesoᵢ·zᵢ. Dois esquemas de peso (sensibilidade).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36592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PRÓ/ANTI-INFLAMATÓRIA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0" y="1783080"/>
            <a:ext cx="35204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1783080"/>
            <a:ext cx="82296" cy="274320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6" name="Text 14"/>
          <p:cNvSpPr/>
          <p:nvPr/>
        </p:nvSpPr>
        <p:spPr>
          <a:xfrm>
            <a:off x="8577072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alimentar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77072" y="25146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sobre os 12 itens → 1 rótulo ordinal (protetor→pró-inflamatório).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77072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A POSTERIORI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6577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vazamento: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IRNI e Cluster são ajustados IN-FOLD (z-score e k-means só no treino de cada fold) — zero vazamento. O antigo quadrante Padrao_Alimentar foi aposentado (colinearidade).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BLOCOS E AUDITORIA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desenhos, blocos e base limpa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Desenho 1 — Artrite pura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Desenho 2 — Artrite+comorbidades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(0/1)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4.826  (4.332 / 494)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8.357  (4.332 / 4.025)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Balanço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desbalanceado 8,8:1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equilibrado 1,08:1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Blocos (socio/nutri/control)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13 /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12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31920"/>
            <a:ext cx="2715768" cy="1143000"/>
          </a:xfrm>
          <a:prstGeom prst="rect">
            <a:avLst/>
          </a:prstGeom>
          <a:solidFill>
            <a:srgbClr val="EEF6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041648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NaN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443484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features do modelo (base imputada)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47288" y="3931920"/>
            <a:ext cx="2715768" cy="1143000"/>
          </a:xfrm>
          <a:prstGeom prst="rect">
            <a:avLst/>
          </a:prstGeom>
          <a:solidFill>
            <a:srgbClr val="EEF6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84448" y="4041648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vazamento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584448" y="443484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comorbidade-filtro entre as features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54496" y="3931920"/>
            <a:ext cx="2715768" cy="1143000"/>
          </a:xfrm>
          <a:prstGeom prst="rect">
            <a:avLst/>
          </a:prstGeom>
          <a:solidFill>
            <a:srgbClr val="EEF6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91656" y="4041648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91656" y="443484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estratificados 80/20 (semente 42)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061704" y="3931920"/>
            <a:ext cx="2715768" cy="1143000"/>
          </a:xfrm>
          <a:prstGeom prst="rect">
            <a:avLst/>
          </a:prstGeom>
          <a:solidFill>
            <a:srgbClr val="EEF6F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98864" y="4041648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IRNI íntegro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98864" y="443484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NaN; faixa −18 a +29 (z-score)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" y="534924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538581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dados aprovada (sem NaN, sem leakage, sem feature constante). Caveat honesto: os itens alimentares têm 57–74% de imputação herdada — limita a força do sinal nutricional.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1 · GANHO MARGINAL DA NUTRIÇÃO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Acrescentar dieta não move o F1</a:t>
            </a:r>
            <a:endParaRPr lang="en-US" sz="3000" dirty="0"/>
          </a:p>
        </p:txBody>
      </p:sp>
      <p:pic>
        <p:nvPicPr>
          <p:cNvPr id="4" name="Image 0" descr="figuras/modelagem_ablacao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" y="1691640"/>
            <a:ext cx="10665562" cy="370332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576072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79729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ΔF1 da nutrição ≈ 0 nos dois desenhos (D1 −0,01; D2 +0,01) e IC95% sobrepostos. Só-nutrição (M1, verde) é a barra mais baixa; o salto de desempenho vem do CONTROLE de saúde (Mc/M3), não da dieta.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2 · TESTE HELD-OUT (FLORESTA)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curvas ROC de M0, M2 e M3 se sobrepõem</a:t>
            </a:r>
            <a:endParaRPr lang="en-US" sz="3000" dirty="0"/>
          </a:p>
        </p:txBody>
      </p:sp>
      <p:pic>
        <p:nvPicPr>
          <p:cNvPr id="4" name="Image 0" descr="figuras/modelagem_confusao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754880" cy="4120347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852160" y="237744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286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 (artrite pura)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126480" y="262432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0,60 (M0) → 0,63 (M2): a dieta acrescenta ~0,02. F1 baixo (≈0,23) pela base 8,8:1 — AUC é a métrica honesta aqui.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52160" y="36118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 (com comorbidades)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126480" y="385876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0,71 (M0) ≈ 0,72 (M2): nutrição não desloca a curva. Recall da artrite alto (base equilibrada).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52160" y="484632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ambos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126480" y="509320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de M2 (socio+nutrição) cola na de M0 (só socio) — a dieta não amplia a separação.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2 · ANÁLISE DE ERRO (DESENHO 1)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a F1 do Desenho 1 é baixa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Matriz: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0,65 (acha 64 dos 99 doentes) · precisão 0,15 · </a:t>
            </a:r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 falsos-positivos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erro é quase todo FP.</a:t>
            </a:r>
            <a:endParaRPr lang="en-US" sz="1300" dirty="0"/>
          </a:p>
        </p:txBody>
      </p:sp>
      <p:pic>
        <p:nvPicPr>
          <p:cNvPr id="5" name="Image 0" descr="figuras/modelagem_analise_er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0564" y="1874520"/>
            <a:ext cx="9540392" cy="35204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5577840"/>
            <a:ext cx="10881360" cy="960120"/>
          </a:xfrm>
          <a:prstGeom prst="rect">
            <a:avLst/>
          </a:prstGeom>
          <a:solidFill>
            <a:srgbClr val="FBEE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65099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bug — é a base rate.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limiar supera F1≈0,24 (teto = AUC 0,63). Sem RUS a acurácia chega a 90%, mas o recall é ZERO — não identifica nenhum doente. O RUS aceita 375 falsos-positivos para enxergar 2/3 dos 99 artríticos: consequência de 10% de prevalência + sinal nutricional fraco, não do algoritmo.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3 · IMPORTÂNCIA POR BLOCO (FLORESTA · M3)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topo do ranking é sexo e saúde, não comida</a:t>
            </a:r>
            <a:endParaRPr lang="en-US" sz="3000" dirty="0"/>
          </a:p>
        </p:txBody>
      </p:sp>
      <p:pic>
        <p:nvPicPr>
          <p:cNvPr id="4" name="Image 0" descr="figuras/modelagem_importancia_blo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9601200" cy="384048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576072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79729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variáveis de maior importância são de CONTROLE (autoavaliação de saúde, consultas, problema de coluna) e SOCIO (sexo, azul). As verdes (nutrição) aparecem no fim — coerente com a entropia (§3) e com o Δ ≈ 0.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4 · ODDS RATIO AJUSTADO (DIETA NET DE SOCIO)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Sexo domina; IRNI e Cluster não são fatores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(ajustado)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— Desenho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— Desenho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Sexo (mulher)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 ***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 ***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forte e consistente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(faixa)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 **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 ***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cresce com a 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IRNI (índice infl.)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  (ns)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  (ns)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associação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alimentar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  (ns)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 *** 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D2: invertido (reverso)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p&lt;0,001   ** p&lt;0,01   ns = não significativo   ⟲ = direção contraintuitiva (mais pró-inflamatório → menos doença)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493776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497433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mulher idosa multiplica a chance de artrite por 2,5–4,7×. O IRNI nunca é significativo; o único sinal de dieta (Cluster, D2) é INVERTIDO — assinatura de causalidade reversa, não de proteção.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5 · REGRAS DA ÁRVORE (COBERTURA ≥ 10%)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regras descrevem perfil, não dieta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4630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Desenho 1 — perfil SAUDÁVEL (pureza ≈ 0,95)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homem  E  come feijão (≥ faixa)  E  mais escolaridade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Saudável   (cobre 12%).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10881360" cy="192024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3429000"/>
            <a:ext cx="82296" cy="19202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566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Desenho 2 — perfil ARTRITE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14400" y="3977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  E  60–69 anos  E  menor escolaridade  E  IRNI &gt; −4,5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Artrite   (cobre 20%, pureza 0,56).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572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variáveis nutricionais (feijão, sal, tipo de leite, IRNI) entram como ramos secundários — nunca como o eixo da regra. O eixo é sexo + idade + escolaridade.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53212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56869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 modelo de regras (a entrega descritiva do estilo LICAP), a dieta é coadjuvante: as folhas de maior cobertura são definidas por características da pessoa.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MODELOS · CONJUNTO-RESPOSTA M2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Modelos empatam — a Árvore é competitiva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3152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(F1 ± IC95, 10-fold)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Desenho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Desenho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Floresta Aleatória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Árvore de Decisão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Logística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Naïve-Bayes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783080"/>
            <a:ext cx="33375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183880" y="1783080"/>
            <a:ext cx="82296" cy="2331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pareado + Bonferroni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0" y="23774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diferença prática relevante entre Árvore, Floresta e Logística. A Árvore — a mais interpretável — é a escolha, como nos papers do grupo.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61772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65429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desempenho baixo no D1 é da base desbalanceada (8,8:1), não dos modelos; no D2 (equilibrado) o F1 sobe para ~0,70. Em nenhum caso a nutrição é o que sustenta o número.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 INDEPENDENTE · ENTROPIA (NB06 §3)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entropia já apontava o mesmo</a:t>
            </a:r>
            <a:endParaRPr lang="en-US" sz="3000" dirty="0"/>
          </a:p>
        </p:txBody>
      </p:sp>
      <p:pic>
        <p:nvPicPr>
          <p:cNvPr id="4" name="Image 0" descr="figuras/entropia_ranking_s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575" y="1783080"/>
            <a:ext cx="7250369" cy="338328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5486400"/>
            <a:ext cx="10881360" cy="713232"/>
          </a:xfrm>
          <a:prstGeom prst="rect">
            <a:avLst/>
          </a:prstGeom>
          <a:solidFill>
            <a:srgbClr val="EEF6F0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52297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Triangulação: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ranking por Incerteza Simétrica (independente do classificador) coloca autoavaliação de saúde, sexo e uso de serviço no topo; a maioria dos itens alimentares fica perto de zero. Três lentes — entropia, Gini e OR — convergem.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A RESPOSTA À PERGUNTA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diferencia idoso com artrite do saudável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3716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3716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4767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DIFERENCIAM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600200" y="233172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 feminino (OR 2,5–4,7), idade mais avançada e o estado de saúde (comorbidades, limitação funcional, autoavaliação ruim).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64408"/>
            <a:ext cx="10881360" cy="13716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264408"/>
            <a:ext cx="82296" cy="13716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675888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75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4290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DIFERENCIAM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00200" y="381304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padrões nutricionais: ΔF1/ΔAUC ≈ 0 ao acrescentar a dieta; IRNI nunca significativo; itens no fim do ranking.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10881360" cy="13716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745736"/>
            <a:ext cx="82296" cy="137160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5157216"/>
            <a:ext cx="548640" cy="5486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572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⟲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00200" y="491032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ÚNICO SINAL DE DIETA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600200" y="529437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invertido (D2): dieta mais pró-inflamatória associada a MENOS doença → causalidade reversa, não proteção.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· LEITURA HONESTA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o nulo nutricional é esperado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110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Imputação alta dos itens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96112" y="22860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57–74% das frequências alimentares foram imputadas → o sinal individual fica diluído.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8308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178308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19110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Corte transversal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11112" y="22860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PNS é uma foto; não capta a dieta de anos antes do diagnóstico (latência da artrite).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10896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23697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Causalidade reversa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96112" y="36118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muda a dieta (manejo) → contamina a associação, como mostra o Cluster invertido.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310896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310896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323697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tipologia forte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11112" y="36118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silhuetas do k-means são baixas (~0,10): não há padrões alimentares naturais nítidos.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43484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56285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IRNI ≠ DII validado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96112" y="49377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adaptado (frequência, não g/dia; 12 itens) — captura direção, não a magnitude do DII.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55080" y="4434840"/>
            <a:ext cx="5440680" cy="11430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55080" y="4434840"/>
            <a:ext cx="82296" cy="1143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6611112" y="456285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 baixo no D1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611112" y="49377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desbalanço 8,8:1 (não do modelo); por isso reportamos também AUC e IC95%.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tem artrite é mulher idosa com pior saúde — não quem come pior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68680" y="235000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22951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nutrição não diferencia os grupos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17320" y="26974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ΔF1/ΔAUC ≈ 0 ao acrescentar a dieta, nos dois desenhos e ajustando por confundidores.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326440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64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separa é sociodemográfico + saúde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17320" y="36118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 feminino, idade e estado de saúde concentram todo o poder discriminante.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17880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1239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Achado, não falha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17320" y="45262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com rigor o limite do dado transversal é mais defensável que afirmar “dieta causa artrite”.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509320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093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50383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Coerente com todo o projeto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417320" y="54406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com a entropia (§3), o Desenho 3 e a literatura — nulo honesto e triangulado.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E REPRODUTIBILIDADE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Fontes e artefatos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82296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Shivappa N. et al. (2014). Designing and developing a literature-derived, population-based Dietary Inflammatory Index. Public Health Nutr.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441448"/>
            <a:ext cx="82296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41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Zárate L. E. et al. (2023). CAPTO — a method for understanding problem domains for data science projects. SBBD.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99816"/>
            <a:ext cx="82296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99816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L. F., Zárate L. E. (2025). Caracterizando o perfil Artrite-Depressão da população brasileira (PNS 2019). SBBD.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58184"/>
            <a:ext cx="82296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75818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A. P., Zárate L. E. (2024). Fatores socioambientais na identificação do TOC (PNS 2019). SBBD.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416552"/>
            <a:ext cx="82296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41655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(2020). Pesquisa Nacional de Saúde 2019 — microdados.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035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Reprodutibilidade: 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notebooks/06_modelagem_ml.ipynb + notebooks/modelagem.py (com autoteste) · parâmetros em config.toml [modelagem] · artefatos em data/results/modelagem/ · semente 42.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§4 · Ablação por blocos — PNS 2019 · Artrite em idosos ≥60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— Nutrição × Artrite · PNS 2019</dc:title>
  <dc:subject>PptxGenJS Presentation</dc:subject>
  <dc:creator>Pedro Dias Soares</dc:creator>
  <cp:lastModifiedBy>Pedro Dias Soares</cp:lastModifiedBy>
  <cp:revision>1</cp:revision>
  <dcterms:created xsi:type="dcterms:W3CDTF">2026-06-24T18:55:47Z</dcterms:created>
  <dcterms:modified xsi:type="dcterms:W3CDTF">2026-06-24T18:55:47Z</dcterms:modified>
</cp:coreProperties>
</file>
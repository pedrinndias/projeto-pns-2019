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67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2743200"/>
            <a:ext cx="1554480" cy="914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8A33D"/>
                </a:solidFill>
                <a:latin typeface="Calibri"/>
              </a:rPr>
              <a:t>MINERAÇÃO DE DADOS EM SAÚDE · PNS 2019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057400"/>
            <a:ext cx="1097280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600" b="1" i="0">
                <a:solidFill>
                  <a:srgbClr val="FFFFFF"/>
                </a:solidFill>
                <a:latin typeface="Georgia"/>
              </a:rPr>
              <a:t>Discretização das variáveis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9728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Notebook 04 — a 7ª etapa do KDD aplicada ao estudo da artrite em idosos brasileiros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Pedro Dias Soares</a:t>
            </a:r>
            <a:r>
              <a:rPr sz="1400" b="0" i="0">
                <a:solidFill>
                  <a:srgbClr val="CADCFC"/>
                </a:solidFill>
                <a:latin typeface="Calibri"/>
              </a:rPr>
              <a:t>   ·   Orientador: Prof. Dr. Luis Enrique Zárate — PUC Minas (LICAP)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O que esta apresentação cobre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285232" cy="1298448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2057400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E8A33D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965960"/>
            <a:ext cx="3931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386584"/>
            <a:ext cx="3977639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Onde a discretização se encaixa no processo KDD do projeto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64408"/>
            <a:ext cx="5285232" cy="1298448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8680" y="3538728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E8A33D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447288"/>
            <a:ext cx="3931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Método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867912"/>
            <a:ext cx="3977639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 padrão de discretização do orientador e a arquitetura "Opção A"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745736"/>
            <a:ext cx="5285232" cy="1298448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68680" y="5020056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E8A33D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928616"/>
            <a:ext cx="3931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Faixas por domínio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5349240"/>
            <a:ext cx="3977639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IMC, idade, atividade física e álcool — cortes oficiais e seus resultados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783080"/>
            <a:ext cx="5285232" cy="1298448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0" y="2057400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E8A33D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965960"/>
            <a:ext cx="3931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Plano cartesiano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386584"/>
            <a:ext cx="3977639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Frequência alimentar em 4 quadrantes (Ribeiro &amp; Zárate, 2019)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264408"/>
            <a:ext cx="5285232" cy="1298448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0800" y="3538728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E8A33D"/>
                </a:solidFill>
                <a:latin typeface="Georg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447288"/>
            <a:ext cx="3931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Anti-leakage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867912"/>
            <a:ext cx="3977639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Comorbidades como filtro de coorte, não como variáveis do modelo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745736"/>
            <a:ext cx="5285232" cy="1298448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00800" y="5020056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E8A33D"/>
                </a:solidFill>
                <a:latin typeface="Georgi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928616"/>
            <a:ext cx="3931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Síntese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349240"/>
            <a:ext cx="3977639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Dois datasets discretizados e prontos para o aprendizado de máquina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CONTEXTO · PROCESSO KDD (FAYYAD ET AL., 1996)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Onde a discretização se encaixa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542032" cy="228600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2194560"/>
            <a:ext cx="21945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6B7280"/>
                </a:solidFill>
                <a:latin typeface="Georgia"/>
              </a:rPr>
              <a:t>01–03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97480"/>
            <a:ext cx="224028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450" b="1" i="0">
                <a:solidFill>
                  <a:srgbClr val="2B2B2B"/>
                </a:solidFill>
                <a:latin typeface="Calibri"/>
              </a:rPr>
              <a:t>Seleção &amp; Pré-proc.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611880"/>
            <a:ext cx="22402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Skip patterns, missing,
outliers, imputação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2834640"/>
            <a:ext cx="365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E8A33D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7" y="2011680"/>
            <a:ext cx="2542032" cy="2286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0168" y="2194560"/>
            <a:ext cx="21945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E8A33D"/>
                </a:solidFill>
                <a:latin typeface="Georgia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697480"/>
            <a:ext cx="224028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Transformação
DISCRETIZAÇÃO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611880"/>
            <a:ext cx="22402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Contínuas → faixas
qualitativas (este NB)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2744" y="2834640"/>
            <a:ext cx="365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E8A33D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011680"/>
            <a:ext cx="2542032" cy="228600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7376" y="2194560"/>
            <a:ext cx="21945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6B7280"/>
                </a:solidFill>
                <a:latin typeface="Georgia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697480"/>
            <a:ext cx="224028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450" b="1" i="0">
                <a:solidFill>
                  <a:srgbClr val="2B2B2B"/>
                </a:solidFill>
                <a:latin typeface="Calibri"/>
              </a:rPr>
              <a:t>Mineração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3611880"/>
            <a:ext cx="22402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Modelos de ML
(árvore, RF, logística)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2" y="2834640"/>
            <a:ext cx="365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E8A33D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3" y="2011680"/>
            <a:ext cx="2542032" cy="228600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44583" y="2194560"/>
            <a:ext cx="21945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6B7280"/>
                </a:solidFill>
                <a:latin typeface="Georgia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3" y="2697480"/>
            <a:ext cx="224028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450" b="1" i="0">
                <a:solidFill>
                  <a:srgbClr val="2B2B2B"/>
                </a:solidFill>
                <a:latin typeface="Calibri"/>
              </a:rPr>
              <a:t>Avaliação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3" y="3611880"/>
            <a:ext cx="22402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Métricas, validação
e interpretação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Ideia central: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discretização é a etapa de transformação que prepara os dados contínuos para os algoritmos caixa-branca usados pelo orientador.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CONCEITO · SLIDE INTRODUÇÃO 12 (PREPARAÇÃO DOS DADOS)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O que é discretização?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72800" cy="1051560"/>
          </a:xfrm>
          <a:prstGeom prst="roundRect">
            <a:avLst/>
          </a:prstGeom>
          <a:solidFill>
            <a:srgbClr val="FB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0" i="1">
                <a:solidFill>
                  <a:srgbClr val="1E2761"/>
                </a:solidFill>
                <a:latin typeface="Calibri"/>
              </a:rPr>
              <a:t>“Transforma dados quantitativos em qualitativos — atribuindo a valores contínuos um número finito de intervalos (faixas).”</a:t>
            </a:r>
            <a:r>
              <a:rPr sz="1200" b="0" i="0">
                <a:solidFill>
                  <a:srgbClr val="6B7280"/>
                </a:solidFill>
                <a:latin typeface="Calibri"/>
              </a:rPr>
              <a:t>   — slide Introdução 12 do curso</a:t>
            </a:r>
          </a:p>
        </p:txBody>
      </p:sp>
      <p:pic>
        <p:nvPicPr>
          <p:cNvPr id="7" name="Picture 6" descr="slide04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352" y="2740512"/>
            <a:ext cx="6222990" cy="2468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 dirty="0" err="1">
                <a:solidFill>
                  <a:srgbClr val="27AE60"/>
                </a:solidFill>
                <a:latin typeface="Calibri"/>
              </a:rPr>
              <a:t>Exemplo</a:t>
            </a:r>
            <a:r>
              <a:rPr sz="1300" b="1" i="0" dirty="0">
                <a:solidFill>
                  <a:srgbClr val="27AE60"/>
                </a:solidFill>
                <a:latin typeface="Calibri"/>
              </a:rPr>
              <a:t> real do </a:t>
            </a:r>
            <a:r>
              <a:rPr sz="1300" b="1" i="0" dirty="0" err="1">
                <a:solidFill>
                  <a:srgbClr val="27AE60"/>
                </a:solidFill>
                <a:latin typeface="Calibri"/>
              </a:rPr>
              <a:t>projeto</a:t>
            </a:r>
            <a:r>
              <a:rPr sz="1300" b="1" i="0" dirty="0">
                <a:solidFill>
                  <a:srgbClr val="27AE60"/>
                </a:solidFill>
                <a:latin typeface="Calibri"/>
              </a:rPr>
              <a:t>:  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a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idade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contínua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(à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esquerda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)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torna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-se 3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faixas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ordinais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 — 60–69 · 70–79 · 80+ (à </a:t>
            </a:r>
            <a:r>
              <a:rPr sz="1250" b="0" i="0" dirty="0" err="1">
                <a:solidFill>
                  <a:srgbClr val="2B2B2B"/>
                </a:solidFill>
                <a:latin typeface="Calibri"/>
              </a:rPr>
              <a:t>direita</a:t>
            </a:r>
            <a:r>
              <a:rPr sz="1250" b="0" i="0" dirty="0">
                <a:solidFill>
                  <a:srgbClr val="2B2B2B"/>
                </a:solidFill>
                <a:latin typeface="Calibri"/>
              </a:rPr>
              <a:t>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CONCEITO · JUSTIFICATIVA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Por que discretizar? — 4 razões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85232" cy="1572768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4754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E8A33D"/>
                </a:solidFill>
                <a:latin typeface="Calibri"/>
              </a:rPr>
              <a:t>1. </a:t>
            </a:r>
            <a:r>
              <a:rPr sz="1600" b="1" i="0">
                <a:solidFill>
                  <a:srgbClr val="1E2761"/>
                </a:solidFill>
                <a:latin typeface="Calibri"/>
              </a:rPr>
              <a:t>Interpretabilidade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32304"/>
            <a:ext cx="480060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Algoritmos caixa-branca (Árvore, Naïve Bayes) geram regras mais legíveis sobre faixas do que sobre números crus.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285232" cy="1572768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993392"/>
            <a:ext cx="4754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E8A33D"/>
                </a:solidFill>
                <a:latin typeface="Calibri"/>
              </a:rPr>
              <a:t>2. </a:t>
            </a:r>
            <a:r>
              <a:rPr sz="1600" b="1" i="0">
                <a:solidFill>
                  <a:srgbClr val="1E2761"/>
                </a:solidFill>
                <a:latin typeface="Calibri"/>
              </a:rPr>
              <a:t>Redução de dimensionalidade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32304"/>
            <a:ext cx="480060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Menos valores distintos por atributo — o slide trata a discretização como técnica de redução.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11880"/>
            <a:ext cx="5285232" cy="1572768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776472"/>
            <a:ext cx="4754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E8A33D"/>
                </a:solidFill>
                <a:latin typeface="Calibri"/>
              </a:rPr>
              <a:t>3. </a:t>
            </a:r>
            <a:r>
              <a:rPr sz="1600" b="1" i="0">
                <a:solidFill>
                  <a:srgbClr val="1E2761"/>
                </a:solidFill>
                <a:latin typeface="Calibri"/>
              </a:rPr>
              <a:t>Suavização de outliers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15384"/>
            <a:ext cx="480060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Valores extremos caem dentro de uma faixa, sem distorcer o modelo (artigo de Hipertensão, CBIS’24).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611880"/>
            <a:ext cx="5285232" cy="1572768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3776472"/>
            <a:ext cx="4754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E8A33D"/>
                </a:solidFill>
                <a:latin typeface="Calibri"/>
              </a:rPr>
              <a:t>4. </a:t>
            </a:r>
            <a:r>
              <a:rPr sz="1600" b="1" i="0">
                <a:solidFill>
                  <a:srgbClr val="1E2761"/>
                </a:solidFill>
                <a:latin typeface="Calibri"/>
              </a:rPr>
              <a:t>Aderência ao padrão do orientador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215384"/>
            <a:ext cx="480060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Os 6 artigos do LICAP sobre a PNS discretizam por faixas — replicamos o método.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CONCEITO · TAXONOMIA DO SLIDE INTRODUÇÃO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Tipos de discretização — e a nossa escolha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10512"/>
            <a:ext cx="10972800" cy="132588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29384"/>
            <a:ext cx="6400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Não-supervisionada × Supervisionada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658368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Usa ou não o rótulo da classe para definir cortes.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975104"/>
            <a:ext cx="3977639" cy="1005840"/>
          </a:xfrm>
          <a:prstGeom prst="round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2048256"/>
            <a:ext cx="365760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Nossa escolha: NÃO-supervisionada — cortes por domínio, nunca pela classe.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91840"/>
            <a:ext cx="10972800" cy="132588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410712"/>
            <a:ext cx="6400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Univariada × Multivariada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658368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Uma variável por vez, ou várias em conjunto.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456432"/>
            <a:ext cx="3977639" cy="1005840"/>
          </a:xfrm>
          <a:prstGeom prst="round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0" y="3529584"/>
            <a:ext cx="365760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Univariada — exceção: o plano cartesiano cruza 2 escores de frequência.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773168"/>
            <a:ext cx="10972800" cy="132588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6400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Estática × Dinâmica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658368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Cortes fixos a priori ou ajustados pelo algoritmo.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4937760"/>
            <a:ext cx="3977639" cy="1005840"/>
          </a:xfrm>
          <a:prstGeom prst="round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0" y="5010912"/>
            <a:ext cx="365760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Estática — faixas definidas antes da modelagem, auditáveis.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MÉTODO · 6 ARTIGOS DO LICAP + RIBEIRO &amp; ZÁRATE (2019)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Como discretizamos — o padrão do orientador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10512"/>
            <a:ext cx="3456432" cy="2788920"/>
          </a:xfrm>
          <a:prstGeom prst="round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47672"/>
            <a:ext cx="3017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27AE60"/>
                </a:solidFill>
                <a:latin typeface="Calibri"/>
              </a:rPr>
              <a:t>FAIXAS POR DOMÍNIO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3017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1">
                <a:solidFill>
                  <a:srgbClr val="6B7280"/>
                </a:solidFill>
                <a:latin typeface="Calibri"/>
              </a:rPr>
              <a:t>A regra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3063240" cy="1691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Cortes de fontes oficiais — OMS, Guia de Atividade Física BR 2021, NIAAA. Não-supervisionado e univariado.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10512"/>
            <a:ext cx="3456432" cy="2788920"/>
          </a:xfrm>
          <a:prstGeom prst="roundRect">
            <a:avLst/>
          </a:prstGeom>
          <a:solidFill>
            <a:srgbClr val="E9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947672"/>
            <a:ext cx="3017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PLANO CARTESIANO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359152"/>
            <a:ext cx="3017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1">
                <a:solidFill>
                  <a:srgbClr val="6B7280"/>
                </a:solidFill>
                <a:latin typeface="Calibri"/>
              </a:rPr>
              <a:t>Frequência alimentar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788920"/>
            <a:ext cx="3063240" cy="1691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Os 2 escores de frequência viram eixos de um plano → 4 quadrantes (Ribeiro &amp; Zárate, 2019).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5" y="1810512"/>
            <a:ext cx="3456432" cy="2788920"/>
          </a:xfrm>
          <a:prstGeom prst="roundRect">
            <a:avLst/>
          </a:prstGeom>
          <a:solidFill>
            <a:srgbClr val="FB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0455" y="1947672"/>
            <a:ext cx="3017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QUANTIS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5" y="2359152"/>
            <a:ext cx="3017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1">
                <a:solidFill>
                  <a:srgbClr val="6B7280"/>
                </a:solidFill>
                <a:latin typeface="Calibri"/>
              </a:rPr>
              <a:t>A exceção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5" y="2788920"/>
            <a:ext cx="3063240" cy="1691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Equal-frequency só para escores sem norma externa E fora do plano. Hoje não utilizado.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Importante: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entropia e correlação aparecem apenas para SELECIONAR/remover atributos — nunca para definir os cortes (mantemos a discretização não-supervisionada).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DECISÃO DE 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Opção A — uma única fonte de discretização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49240" cy="2743200"/>
          </a:xfrm>
          <a:prstGeom prst="round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9377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O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93776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O NB03 já categorizava (Etapa 10)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o NB04 também iria discretizar.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→ discretização em </a:t>
            </a:r>
            <a:r>
              <a:rPr sz="1300" b="1" i="0">
                <a:solidFill>
                  <a:srgbClr val="C0392B"/>
                </a:solidFill>
                <a:latin typeface="Calibri"/>
              </a:rPr>
              <a:t>dois lugares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risco de divergência e retrabalho.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376672" cy="2743200"/>
          </a:xfrm>
          <a:prstGeom prst="round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49377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27AE60"/>
                </a:solidFill>
                <a:latin typeface="Calibri"/>
              </a:rPr>
              <a:t>A SOLUÇÃO (Opção 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23160"/>
            <a:ext cx="4956048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NB03 e NB03b entregam as contínuas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numéricas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O NB04 é o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único dono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da discretização — uma fonte, rastreável.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Mesma lógica que isolou o tratamento de outliers.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Resultado: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sem discretização duplicada; cada corte tem uma origem única e auditável no NB04.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PROCESSO · O QUE O NOTEBOOK EXECUTA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As etapas do Notebook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10512"/>
            <a:ext cx="5285232" cy="128016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7315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E8A33D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39" y="1993392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Inventário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39" y="2395728"/>
            <a:ext cx="40690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Classifica colunas: contínuas a discretizar × já categóricas × removíveis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73552"/>
            <a:ext cx="5285232" cy="128016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7315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E8A33D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39" y="3456432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Faixas por domínio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39" y="3858768"/>
            <a:ext cx="40690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Binning não-supervisionado com fontes oficiais (OMS, Guia BR, NIAAA)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736592"/>
            <a:ext cx="5285232" cy="128016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937759"/>
            <a:ext cx="7315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E8A33D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39" y="4919472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Plano cartesiano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39" y="5321807"/>
            <a:ext cx="40690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Frequência alimentar resumida em 4 quadrantes ordinais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810512"/>
            <a:ext cx="5285232" cy="128016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7315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E8A33D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993392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Verificação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395728"/>
            <a:ext cx="40690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Prevalência da classe por faixa — checa perda de informação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273552"/>
            <a:ext cx="5285232" cy="128016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474720"/>
            <a:ext cx="7315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E8A33D"/>
                </a:solidFill>
                <a:latin typeface="Georg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456432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Seleção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858768"/>
            <a:ext cx="40690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Entropia + correlação sinalizam atributos (não definem cortes)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736592"/>
            <a:ext cx="5285232" cy="128016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4937759"/>
            <a:ext cx="7315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E8A33D"/>
                </a:solidFill>
                <a:latin typeface="Georgi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919472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Exportação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5321807"/>
            <a:ext cx="40690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Datasets discretizados + relatório JSON de rastreabilidade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RESULTADOS · DOIS DESENHOS DE ESTUDO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Mesmas regras de faixa, duas coortes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10512"/>
            <a:ext cx="5285232" cy="260604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47548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DESENHO 1 · Artrite pura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47548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i="0">
                <a:solidFill>
                  <a:srgbClr val="E8A33D"/>
                </a:solidFill>
                <a:latin typeface="Georgia"/>
              </a:rPr>
              <a:t>494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99232"/>
            <a:ext cx="4754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casos (artrite isolada)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46704"/>
            <a:ext cx="4754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vs 4.332 saudáveis  ·  razão 8,77:1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30752"/>
            <a:ext cx="47548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1">
                <a:solidFill>
                  <a:srgbClr val="2B2B2B"/>
                </a:solidFill>
                <a:latin typeface="Calibri"/>
              </a:rPr>
              <a:t>Caso limpo, sem comorbidades — triangulação.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10512"/>
            <a:ext cx="5285232" cy="260604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938528"/>
            <a:ext cx="47548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DESENHO 2 · Com comorbidades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95728"/>
            <a:ext cx="47548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i="0">
                <a:solidFill>
                  <a:srgbClr val="E8A33D"/>
                </a:solidFill>
                <a:latin typeface="Georgia"/>
              </a:rPr>
              <a:t>4.025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99232"/>
            <a:ext cx="4754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casos (qualquer combinação)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346704"/>
            <a:ext cx="4754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vs 4.332 saudáveis  ·  razão 1,08:1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730752"/>
            <a:ext cx="47548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1">
                <a:solidFill>
                  <a:srgbClr val="2B2B2B"/>
                </a:solidFill>
                <a:latin typeface="Calibri"/>
              </a:rPr>
              <a:t>Idoso real — mais casos e poder estatístico.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Anti-leakage (detalhe na Parte 5):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as comorbidades definem QUEM entra na coorte (filtro), mas NÃO entram como features — o modelo não as enxerga.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RESULTADO · INVENTÁRIO DAS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O que é discretizado — e por quê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10512"/>
            <a:ext cx="3456432" cy="274320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30175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000" b="1" i="0">
                <a:solidFill>
                  <a:srgbClr val="1E2761"/>
                </a:solidFill>
                <a:latin typeface="Georgia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34640"/>
            <a:ext cx="3017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DISCRETIZADAS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306324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IMC, Idade, Atividade física, Consultas, Álcool (só D1) e o Padrão Alimentar (plano)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10512"/>
            <a:ext cx="3456432" cy="274320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965960"/>
            <a:ext cx="30175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000" b="1" i="0">
                <a:solidFill>
                  <a:srgbClr val="27AE60"/>
                </a:solidFill>
                <a:latin typeface="Georgia"/>
              </a:rP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834640"/>
            <a:ext cx="3017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27AE60"/>
                </a:solidFill>
                <a:latin typeface="Calibri"/>
              </a:rPr>
              <a:t>JÁ CATEGÓRICAS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291840"/>
            <a:ext cx="306324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Variáveis nominais/ordinais — Label Encoding e One-Hot (passam direto)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5" y="1810512"/>
            <a:ext cx="3456432" cy="274320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0455" y="1965960"/>
            <a:ext cx="30175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000" b="1" i="0">
                <a:solidFill>
                  <a:srgbClr val="C0392B"/>
                </a:solidFill>
                <a:latin typeface="Georgia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5" y="2834640"/>
            <a:ext cx="3017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REMOVIDAS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5" y="3291840"/>
            <a:ext cx="306324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Contínuas redundantes (peso/altura ⊂ IMC; itens ⊂ plano) e comorbidades-filtro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Leitura: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só as contínuas COM critério de faixa são discretizadas — não é uma seleção arbitrária, e nada é escolhido ao acaso.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RESULTADO · CORTES APLICADOS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Cada faixa, sua fonte e a referência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83664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VARIÁVEL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883664"/>
            <a:ext cx="1645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FAIXAS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83664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FONTE / REFERÊNCIA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10972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359152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IMC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359152"/>
            <a:ext cx="1645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4 faixas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359152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OMS — classificação de IMC para adultos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10972800" cy="50292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862072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Idade (C008)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862072"/>
            <a:ext cx="1645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3 faixas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862072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Subdivisão etária do idoso (60–69 · 70–79 · 80+)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91840"/>
            <a:ext cx="10972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364992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Atividade física (P035)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364992"/>
            <a:ext cx="1645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4 faixas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364992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Guia de Atividade Física para a População Brasileira (2021)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94760"/>
            <a:ext cx="10972800" cy="50292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867912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Consultas médicas (J012)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867912"/>
            <a:ext cx="1645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4 faixas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867912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Intensidade de uso de serviços de saúde (pragmática)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97680"/>
            <a:ext cx="10972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370832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Álcool/ocasião (P029)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370832"/>
            <a:ext cx="1645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3 faixas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370832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NIAAA — binge ≥5 doses (só D1; ~71% imputado → baixa confiança)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00600"/>
            <a:ext cx="10972800" cy="50292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4873752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27AE60"/>
                </a:solidFill>
                <a:latin typeface="Calibri"/>
              </a:rPr>
              <a:t>Padrão alimentar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873752"/>
            <a:ext cx="1645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4 quadrantes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873752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Ribeiro &amp; Zárate (2019) — plano cartesiano de frequência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RESULTADO · IMC DISCRETIZADO (OMS)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Distribuição do IMC em faixas</a:t>
            </a:r>
          </a:p>
        </p:txBody>
      </p:sp>
      <p:pic>
        <p:nvPicPr>
          <p:cNvPr id="5" name="Picture 4" descr="slide14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339" y="1691640"/>
            <a:ext cx="7433016" cy="3017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O que isso significa: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Sobrepeso + Obesidade dominam os dois desenhos — a discretização preserva o sinal antropométrico.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RESULTADO · VALIDAÇÃO CLÍNICA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A faixa de IMC carrega risco?</a:t>
            </a:r>
          </a:p>
        </p:txBody>
      </p:sp>
      <p:pic>
        <p:nvPicPr>
          <p:cNvPr id="5" name="Picture 4" descr="slide15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969" y="1627632"/>
            <a:ext cx="5657755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O que isso significa: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prevalência de artrite sobe a cada faixa de excesso de peso — a discretização não destruiu a relação dose-resposta.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RESULTADO · VALIDAÇÃO CLÍNICA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A faixa etária carrega risco?</a:t>
            </a:r>
          </a:p>
        </p:txBody>
      </p:sp>
      <p:pic>
        <p:nvPicPr>
          <p:cNvPr id="5" name="Picture 4" descr="slide16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701" y="1627632"/>
            <a:ext cx="5684292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O que isso significa: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faixa 80+ é a de maior risco nos dois desenhos — discretizar o idoso em 3 faixas revela o gradiente que a idade crua escondia.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RESULTADO · VERIFICAÇÃO DE PERDA DE INFORMAÇÃO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As faixas discriminam a classe?</a:t>
            </a:r>
          </a:p>
        </p:txBody>
      </p:sp>
      <p:pic>
        <p:nvPicPr>
          <p:cNvPr id="5" name="Picture 4" descr="slide17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034" y="1691640"/>
            <a:ext cx="8307626" cy="3017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O que isso significa: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 vermelho (artrite) cresce de forma clara nas faixas de IMC e idade — as faixas mantêm o poder de separar as classes.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2743200"/>
            <a:ext cx="1554480" cy="914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8A33D"/>
                </a:solidFill>
                <a:latin typeface="Calibri"/>
              </a:rPr>
              <a:t>PARTE 4 · FREQUÊNCIA ALIMENTAR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979408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200" b="1" i="0" dirty="0">
                <a:solidFill>
                  <a:srgbClr val="FFFFFF"/>
                </a:solidFill>
                <a:latin typeface="Georgia"/>
              </a:rPr>
              <a:t>O plano </a:t>
            </a:r>
            <a:r>
              <a:rPr sz="4200" b="1" i="0" dirty="0" err="1">
                <a:solidFill>
                  <a:srgbClr val="FFFFFF"/>
                </a:solidFill>
                <a:latin typeface="Georgia"/>
              </a:rPr>
              <a:t>cartesiano</a:t>
            </a:r>
            <a:endParaRPr sz="42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10607040" cy="1645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Os escores de frequência alimentar não têm norma externa (não existe “OMS do escore”).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Em vez de quartis, seguimos Ribeiro &amp; Zárate (2019): combinar os dois escores num plano e ler os quadrantes.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MÉTODO · POR QUE O PLANO CARTESIANO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Do escore por quartis ao plano cartesiano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49240" cy="3063240"/>
          </a:xfrm>
          <a:prstGeom prst="round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O PROBLEMA (quartis)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956048" cy="2377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Discretizar cada escore por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quartis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não deu gradiente limpo: no D2 a prevalência foi </a:t>
            </a:r>
            <a:r>
              <a:rPr sz="1300" b="1" i="0">
                <a:solidFill>
                  <a:srgbClr val="C0392B"/>
                </a:solidFill>
                <a:latin typeface="Calibri"/>
              </a:rPr>
              <a:t>65→56→33→37%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(sem monotonia).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Quartis não têm significado clínico e tratam os escores de forma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isolada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perdendo a interação dieta protetora × pró-inflamatória.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5376672" cy="3063240"/>
          </a:xfrm>
          <a:prstGeom prst="round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938528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A SOLUÇÃO — Ribeiro &amp; Zárate (2019)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956048" cy="2377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O grupo do próprio orientador (LICAP) combina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Blocks de frequência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via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produto cartesiano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Aplicamos à alimentação: os dois escores viram os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eixos de um plano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e o cruzamento gera 4 quadrantes ordinais interpretáveis.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REFERÊNCIA 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RIBEIRO, C. E.; ZÁRATE, L. E. Classifying longevity profiles through longitudinal data mining. </a:t>
            </a:r>
            <a:r>
              <a:rPr sz="1200" b="0" i="1">
                <a:solidFill>
                  <a:srgbClr val="FFFFFF"/>
                </a:solidFill>
                <a:latin typeface="Calibri"/>
              </a:rPr>
              <a:t>Expert Systems with Applications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, v. 117, p. 75–89, 2019.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PLANO CARTESIANO · COMO 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Os 4 quadrantes do consumo alimentar</a:t>
            </a:r>
          </a:p>
        </p:txBody>
      </p:sp>
      <p:pic>
        <p:nvPicPr>
          <p:cNvPr id="5" name="Picture 4" descr="fig_A_concei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850" y="1627632"/>
            <a:ext cx="4735994" cy="3246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Como ler: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eixo X = consumo pró-inflamatório, eixo Y = consumo protetor; cada eixo cortado na MEDIANA. O código 0–3 vai do Protetor ao Pró-inflamatório (risco crescente teórico).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PLANO CARTESIANO · DISTRIBUIÇÃO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Onde caem os idosos nos dois eixos</a:t>
            </a:r>
          </a:p>
        </p:txBody>
      </p:sp>
      <p:pic>
        <p:nvPicPr>
          <p:cNvPr id="5" name="Picture 4" descr="fig_B_d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722" y="1691640"/>
            <a:ext cx="7330249" cy="3154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Como ler: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cada ponto é um idoso (vermelho = artrite, verde = saudável); as linhas tracejadas são as medianas. O corte por mediana mantém os 4 quadrantes equilibrados.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PLANO CARTESIANO ·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O que cada quadrante revela</a:t>
            </a:r>
          </a:p>
        </p:txBody>
      </p:sp>
      <p:pic>
        <p:nvPicPr>
          <p:cNvPr id="5" name="Picture 4" descr="fig_C_preval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369" y="1627632"/>
            <a:ext cx="7648956" cy="3108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Atenção — gradiente invertido: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 gradiente é limpo e monotônico, mas na direção OPOSTA ao rótulo (Pró-inflamatório tem MENOS artrite). Herda o artefato do Escore Inflamatório (imputação 57–74% + causalidade reversa). Mantido e documentado como limitação.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ANTI-LEAKAGE · O RISCO REVELADO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Entropia + correlação flagram o vazamento</a:t>
            </a:r>
          </a:p>
        </p:txBody>
      </p:sp>
      <p:pic>
        <p:nvPicPr>
          <p:cNvPr id="5" name="Picture 4" descr="slide19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773" y="1691640"/>
            <a:ext cx="8186148" cy="3108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O problema: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no D2, o controle “saudável” não tem nenhuma doença Q*; logo a hipertensão (Q00201) atinge correlação 0,70 com o alvo (vs 0,14 no D1) — separa as classes de forma circular.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ANTI-LEAKAGE · A CORREÇÃO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Comorbidades viram filtro, não 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49240" cy="3063240"/>
          </a:xfrm>
          <a:prstGeom prst="round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ANTES — vazava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956048" cy="2377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Controle definido como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sem nenhuma das 14 doenças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Comorbidades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sempre 0 nos controles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qualquer Q*=Sim predizia artrite com erro zero (correlação 0,70).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5376672" cy="3063240"/>
          </a:xfrm>
          <a:prstGeom prst="round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938528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AGORA — filtro, não 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956048" cy="2377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As 13 comorbidades do filtro foram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removidas das features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(11 colunas no D2); servem só para selecionar a coorte.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A coorte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não mudou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Q084 (coluna), que não era do filtro e varia nos controles, permanece como feature legítima.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O que isso significa: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 modelo nunca enxerga as comorbidades — o vazamento circular desaparece. D1 e D2 diferem só na coorte de casos (pura × com comorbidades).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VALIDAÇÃO · SLIDES + ARTIGOS DO ORIENTADOR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Cada decisão ancorada na literatura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10512"/>
            <a:ext cx="10972800" cy="96012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2066543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38528"/>
            <a:ext cx="9692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IMC / Idade / Atividade física por faixa de domínio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340864"/>
            <a:ext cx="9784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AVC, Depressão, DPOC, HAS — todos usam OMS / Guia 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07791"/>
            <a:ext cx="10972800" cy="96012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8680" y="3163824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035808"/>
            <a:ext cx="9692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Plano cartesiano de frequência alimentar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38144"/>
            <a:ext cx="9784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Ribeiro &amp; Zárate (2019), Expert Systems with Applications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05072"/>
            <a:ext cx="10972800" cy="96012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68680" y="4261104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33087"/>
            <a:ext cx="9692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Discretização suaviza outliers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535424"/>
            <a:ext cx="9784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Artigo de Hipertensão (CBIS’24), seção de preparação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02352"/>
            <a:ext cx="10972800" cy="96012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8680" y="5358384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230368"/>
            <a:ext cx="9692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Entropia/correlação para seleção; “Consequência × Causalidade”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632704"/>
            <a:ext cx="9784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Slides da disciplina — guiam a poda e a leitura do leakage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Fundamentação teórica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Slides da disciplina (Prof. Zárate)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9728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Introdução 6 — O Processo (KDD), etapas de Fayyad et al. (1996).  ·  Introdução 12 — Preparação dos Dados (discretização).  ·  Consequência × Causalidade.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Artigos do orientador (LICAP / PNS 2019)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1106424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RIBEIRO, C. E.; ZÁRATE, L. E. Classifying longevity profiles through longitudinal data mining. 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Expert Systems with Applications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, v. 117, p. 75–89, 2019.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GONÇALVES, L. F. C.; ZÁRATE, L. E. et al. Estudos de AVC, Depressão, DPOC e Hipertensão em idosos com a PNS 2019 (SBBD/CBIS).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Organização Mundial da Saúde — classificação de IMC.  ·  Guia de Atividade Física para a População Brasileira (2021).  ·  NIAAA — binge drinking.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SAEB, S. et al. The need to approximate the use-case in clinical machine learning. 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GigaScience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6(5), 2017.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8A33D"/>
                </a:solidFill>
                <a:latin typeface="Calibri"/>
              </a:rPr>
              <a:t>SÍNTESE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9728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i="0">
                <a:solidFill>
                  <a:srgbClr val="FFFFFF"/>
                </a:solidFill>
                <a:latin typeface="Georgia"/>
              </a:rPr>
              <a:t>O que a discretização entregou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285232" cy="1417320"/>
          </a:xfrm>
          <a:prstGeom prst="roundRect">
            <a:avLst/>
          </a:prstGeom>
          <a:solidFill>
            <a:srgbClr val="2A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4754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8A33D"/>
                </a:solidFill>
                <a:latin typeface="Calibri"/>
              </a:rPr>
              <a:t>D1 · Artrite pura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7548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4.826 × 33</a:t>
            </a:r>
            <a:r>
              <a:rPr sz="1100" b="0" i="0">
                <a:solidFill>
                  <a:srgbClr val="CADCFC"/>
                </a:solidFill>
                <a:latin typeface="Calibri"/>
              </a:rPr>
              <a:t>  registros ×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4754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Label 494 / 4.332  ·  100% categórico, sem comorbidades-leak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20240"/>
            <a:ext cx="5285232" cy="1417320"/>
          </a:xfrm>
          <a:prstGeom prst="roundRect">
            <a:avLst/>
          </a:prstGeom>
          <a:solidFill>
            <a:srgbClr val="2A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029968"/>
            <a:ext cx="4754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8A33D"/>
                </a:solidFill>
                <a:latin typeface="Calibri"/>
              </a:rPr>
              <a:t>D2 · Com comorbidades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7548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8.357 × 31</a:t>
            </a:r>
            <a:r>
              <a:rPr sz="1100" b="0" i="0">
                <a:solidFill>
                  <a:srgbClr val="CADCFC"/>
                </a:solidFill>
                <a:latin typeface="Calibri"/>
              </a:rPr>
              <a:t>  registros ×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971800"/>
            <a:ext cx="4754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Label 4.025 / 4.332  ·  100% categórico, sem comorbidades-leak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5285232" cy="1188720"/>
          </a:xfrm>
          <a:prstGeom prst="roundRect">
            <a:avLst/>
          </a:prstGeom>
          <a:solidFill>
            <a:srgbClr val="2A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4754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1.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6 variáveis ordinais novas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9664"/>
            <a:ext cx="480060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IMC, Idade, Atividade física, Consultas, Álcool (D1) e Padrão Alimentar (plano cartesiano).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657600"/>
            <a:ext cx="5285232" cy="1188720"/>
          </a:xfrm>
          <a:prstGeom prst="roundRect">
            <a:avLst/>
          </a:prstGeom>
          <a:solidFill>
            <a:srgbClr val="2A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3776472"/>
            <a:ext cx="4754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2.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Frequência alimentar resumida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169664"/>
            <a:ext cx="480060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2 escores → 1 feature interpretável de 4 quadrantes (Ribeiro &amp; Zárate, 2019).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83480"/>
            <a:ext cx="5285232" cy="1188720"/>
          </a:xfrm>
          <a:prstGeom prst="roundRect">
            <a:avLst/>
          </a:prstGeom>
          <a:solidFill>
            <a:srgbClr val="2A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102352"/>
            <a:ext cx="4754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3.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Sem data leakage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95544"/>
            <a:ext cx="480060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Comorbidades viram filtro de coorte; o modelo não as enxerga.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983480"/>
            <a:ext cx="5285232" cy="1188720"/>
          </a:xfrm>
          <a:prstGeom prst="roundRect">
            <a:avLst/>
          </a:prstGeom>
          <a:solidFill>
            <a:srgbClr val="2A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5102352"/>
            <a:ext cx="4754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4.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Pronto para o NB05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495544"/>
            <a:ext cx="480060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Balanceamento via RUS na validação cruzada (F1-macro).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</TotalTime>
  <Words>2477</Words>
  <Application>Microsoft Office PowerPoint</Application>
  <PresentationFormat>Widescreen</PresentationFormat>
  <Paragraphs>291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0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PEDRO DIAS SOARES</cp:lastModifiedBy>
  <cp:revision>3</cp:revision>
  <dcterms:created xsi:type="dcterms:W3CDTF">2013-01-27T09:14:16Z</dcterms:created>
  <dcterms:modified xsi:type="dcterms:W3CDTF">2026-06-02T14:26:46Z</dcterms:modified>
  <cp:category/>
</cp:coreProperties>
</file>
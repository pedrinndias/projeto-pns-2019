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5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5550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MINERAÇÃO DE DADOS EM SAÚDE · PNS 2019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Discretização das variáveis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04 — a 7ª etapa do KDD aplicada ao estudo da artrite em idosos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5029200"/>
            <a:ext cx="3840480" cy="0"/>
          </a:xfrm>
          <a:prstGeom prst="line">
            <a:avLst/>
          </a:prstGeom>
          <a:noFill/>
          <a:ln w="1905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22960" y="51663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Dias Soares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Orientador: Prof. Dr. Luis Enrique Zárate — PUC Minas (LICAP)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esta apresentação cobre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40680" cy="123444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82296" cy="12344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896112" y="21671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96112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19659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08760" y="235000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discretização se encaixa no processo KDD do projeto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46520" y="1783080"/>
            <a:ext cx="5440680" cy="123444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6446520" y="1783080"/>
            <a:ext cx="82296" cy="12344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6702552" y="21671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702552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15200" y="19659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conceito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15200" y="235000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discretizar e por que é necessário (slide Introdução 12)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246120"/>
            <a:ext cx="5440680" cy="123444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40080" y="3246120"/>
            <a:ext cx="82296" cy="12344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896112" y="36301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896112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508760" y="34290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método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508760" y="381304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padrão de discretização dos artigos do orientador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46520" y="3246120"/>
            <a:ext cx="5440680" cy="123444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6446520" y="3246120"/>
            <a:ext cx="82296" cy="12344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6702552" y="36301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702552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315200" y="34290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processo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315200" y="381304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6 etapas executadas no NB04, passo a passo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4709160"/>
            <a:ext cx="5440680" cy="123444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640080" y="4709160"/>
            <a:ext cx="82296" cy="12344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896112" y="50932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896112" y="5093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508760" y="48920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resultados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1508760" y="527608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faixa, cada gráfico e o que significam para o trabalho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446520" y="4709160"/>
            <a:ext cx="5440680" cy="123444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6446520" y="4709160"/>
            <a:ext cx="82296" cy="12344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6702552" y="50932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6702552" y="5093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7315200" y="48920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achado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7315200" y="527608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confirmação empírica do data leakage no Desenho 2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NB04 · Discretização — PNS 2019 · Artrite em idosos ≥60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· PROCESSO KDD (FAYYAD, 1996) — SLIDE INTRODUÇÃO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Onde a discretização se encaixa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segue o processo de Descoberta de Conhecimento em Bases de Dados (KDD). A discretização é a 7ª etapa — a ponte entre preparar os dados e minerá-los.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103120" cy="2011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01–03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" y="32644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Seleção &amp; Pré-proc.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3813048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patterns, missing, outliers, imputação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61488" y="3611880"/>
            <a:ext cx="14630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2926080" y="2606040"/>
            <a:ext cx="2103120" cy="2011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06324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063240" y="32644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Enriquecimento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063240" y="3813048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IMC e escores (fusão de atributos)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47488" y="3611880"/>
            <a:ext cx="14630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5212080" y="2606040"/>
            <a:ext cx="2103120" cy="2011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4924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349240" y="32644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Codificação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349240" y="3813048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dos nominais (NB03)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33488" y="3611880"/>
            <a:ext cx="14630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498080" y="2606040"/>
            <a:ext cx="2103120" cy="2011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63524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635240" y="32644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DISCRETIZAÇÃO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635240" y="3813048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FB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Contínuas → faixas ordinais (NB04)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619488" y="3611880"/>
            <a:ext cx="14630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9784080" y="2606040"/>
            <a:ext cx="21031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992124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921240" y="32644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Mineração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921240" y="3813048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ML: Reg.Log., Árvore, Random Forest (NB05)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está aqui ▲  — a discretização recebe os dados limpos do NB03 e devolve um dataset pronto para o aprendizado.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NB04 · Discretização — PNS 2019 · Artrite em idosos ≥60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· SLIDE INTRODUÇÃO 12 (PREPARAÇÃO DOS DADOS)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discretização?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“O processo de discretização transforma dados quantitativos em dados qualitativos — atributos numéricos viram atributos discretos com um número finito de intervalos.”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542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definição do slide Introdução 12 do curso</a:t>
            </a:r>
            <a:endParaRPr lang="en-US" sz="1100" dirty="0"/>
          </a:p>
        </p:txBody>
      </p:sp>
      <p:pic>
        <p:nvPicPr>
          <p:cNvPr id="7" name="Image 0" descr="figuras/fig_exemplo_ida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3543" y="2971800"/>
            <a:ext cx="6914434" cy="2743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58247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real do projeto: a idade contínua (à esquerda) torna-se 3 faixas ordinais (à direita).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NB04 · Discretização — PNS 2019 · Artrite em idosos ≥60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· JUSTIFICATIVA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discretizar? — 4 razões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40680" cy="187452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82296" cy="1874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Interpretabilidade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459736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caixa-branca (Árvore, Naïve Bayes) — os usados pelo orientador — geram regras mais legíveis sobre faixas do que sobre números crus.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46520" y="1783080"/>
            <a:ext cx="5440680" cy="187452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6446520" y="1783080"/>
            <a:ext cx="82296" cy="1874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720840" y="1965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Redução de dimensionalidade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720840" y="2459736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slide trata a discretização como técnica de redução de dimensionalidade: menos valores distintos, espaço de busca menor.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5440680" cy="187452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82296" cy="18745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914400" y="4114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Suavização de outliers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4608576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extremos caem dentro de uma faixa e deixam de distorcer o modelo — argumento explícito do artigo de Hipertensão (CBIS'24).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46520" y="3931920"/>
            <a:ext cx="5440680" cy="187452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446520" y="3931920"/>
            <a:ext cx="82296" cy="18745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720840" y="4114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Significado clínico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720840" y="4608576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Faixas como as da OMS carregam sentido médico; um corte automático pela mediana (ex.: 13 anos) não teria — argumento do artigo de DPOC.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NB04 · Discretização — PNS 2019 · Artrite em idosos ≥60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· TAXONOMIA DO SLIDE INTRODUÇÃO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Tipos de discretização — e a nossa escolha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72800" cy="91440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68680" y="1892808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Não-supervisionada × Supervisionada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37760" y="1892808"/>
            <a:ext cx="3383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ou não o rótulo da classe para definir cortes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412480" y="1892808"/>
            <a:ext cx="3063240" cy="694944"/>
          </a:xfrm>
          <a:prstGeom prst="rect">
            <a:avLst/>
          </a:prstGeom>
          <a:solidFill>
            <a:srgbClr val="EAF0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549640" y="1892808"/>
            <a:ext cx="2834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Não-supervisionada (cortes por domínio, não pela classe)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807208"/>
            <a:ext cx="10972800" cy="91440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68680" y="2916936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Univariada × Multivariada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37760" y="2916936"/>
            <a:ext cx="3383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variável por vez ou várias juntas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12480" y="2916936"/>
            <a:ext cx="3063240" cy="694944"/>
          </a:xfrm>
          <a:prstGeom prst="rect">
            <a:avLst/>
          </a:prstGeom>
          <a:solidFill>
            <a:srgbClr val="EAF0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8549640" y="2916936"/>
            <a:ext cx="2834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Univariada (cada variável tratada isoladamente)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831336"/>
            <a:ext cx="10972800" cy="91440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68680" y="3941064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largura × Por frequência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937760" y="3941064"/>
            <a:ext cx="3383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Intervalos iguais ou com nº de amostras igual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412480" y="3941064"/>
            <a:ext cx="3063240" cy="694944"/>
          </a:xfrm>
          <a:prstGeom prst="rect">
            <a:avLst/>
          </a:prstGeom>
          <a:solidFill>
            <a:srgbClr val="EAF0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549640" y="3941064"/>
            <a:ext cx="2834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Largura por domínio + frequência (quantis) p/ escores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855464"/>
            <a:ext cx="10972800" cy="91440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868680" y="4965192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Estática × Dinâmica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937760" y="4965192"/>
            <a:ext cx="3383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do modelo ou embutida nele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412480" y="4965192"/>
            <a:ext cx="3063240" cy="694944"/>
          </a:xfrm>
          <a:prstGeom prst="rect">
            <a:avLst/>
          </a:prstGeom>
          <a:solidFill>
            <a:srgbClr val="EAF0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8549640" y="4965192"/>
            <a:ext cx="2834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Estática (executada antes do NB05)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5925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 azul = a opção adotada neste trabalho, idêntica ao padrão dos 6 artigos do orientador analisados.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NB04 · Discretização — PNS 2019 · Artrite em idosos ≥60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· 6 ARTIGOS DO LICAP (AVC, DEPRESSÃO, ARTRITE+DEP., TOC, DPOC, HAS)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discretizamos — o padrão do orientador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11880" cy="2331720"/>
          </a:xfrm>
          <a:prstGeom prst="rect">
            <a:avLst/>
          </a:prstGeom>
          <a:solidFill>
            <a:srgbClr val="1E2761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FAIXAS POR DOMÍNIO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Cortes de fontes oficiais — OMS, Guia de Atividade Física BR 2021. Não-supervisionado, univariado. É a regra geral.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828800"/>
            <a:ext cx="3611880" cy="2331720"/>
          </a:xfrm>
          <a:prstGeom prst="rect">
            <a:avLst/>
          </a:prstGeom>
          <a:solidFill>
            <a:srgbClr val="E8A33D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846320" y="21031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QUANTIS (exceção)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0" y="29260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para escores compostos sem norma externa (Escore Inflamatório/Saudável). É o equal-frequency binning do slide.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503920" y="1828800"/>
            <a:ext cx="3611880" cy="2331720"/>
          </a:xfrm>
          <a:prstGeom prst="rect">
            <a:avLst/>
          </a:prstGeom>
          <a:solidFill>
            <a:srgbClr val="C0392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778240" y="21031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ENTROPIA → SELEÇÃO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778240" y="29260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0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Entropia e correlação NÃO definem cortes; servem para selecionar/remover atributos — exatamente como nos artigos.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4805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Convenção ordinal CAPTO:  </a:t>
            </a:r>
            <a:r>
              <a:rPr lang="en-US" sz="14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“risco crescente = nível maior” (0 → k). Presente em todos os artigos analisados, favorece a leitura clínica das regras.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NB04 · Discretização — PNS 2019 · Artrite em idosos ≥60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DE ARQUITETURA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Opção A — uma única fonte de discretização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14400" y="199339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450592"/>
            <a:ext cx="4800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NB03 já categorizava (Etapa 10) e o NB04 também iria discretizar.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discretização em DOIS lugares — o mesmo risco de inconsistência que tivemos com os outliers.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46520" y="1828800"/>
            <a:ext cx="5349240" cy="2468880"/>
          </a:xfrm>
          <a:prstGeom prst="rect">
            <a:avLst/>
          </a:prstGeom>
          <a:solidFill>
            <a:srgbClr val="1E2761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720840" y="199339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(Opção A)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20840" y="2450592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NB03 e NB03b entregam as contínuas numéricas.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NB04 vira o único dono da discretização — com a fonte de cada corte e relatório JSON auditável.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b="1" i="1" dirty="0">
                <a:solidFill>
                  <a:srgbClr val="7C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rastreável, sem duplicação, fiel ao KDD.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Validação: notebook executado de ponta a ponta (nbclient) — 27 células sem erro; 3 bugs encontrados e corrigidos no processo.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NB04 · Discretização — PNS 2019 · Artrite em idosos ≥60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· O QUE O NOTEBOOK EXECUTA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6 etapas do Notebook 04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40680" cy="123444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82296" cy="12344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896112" y="219456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96112" y="2194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92938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Inventário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463040" y="2295144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 colunas: contínuas a discretizar × já categóricas × numéricas sem faixa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46520" y="1783080"/>
            <a:ext cx="5440680" cy="123444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6446520" y="1783080"/>
            <a:ext cx="82296" cy="12344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6702552" y="219456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702552" y="2194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269480" y="192938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Diagnóstico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269480" y="2295144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Histograma de cada contínua com os cortes marcados (slide Introdução 11/12)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218688"/>
            <a:ext cx="5440680" cy="123444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40080" y="3218688"/>
            <a:ext cx="82296" cy="12344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896112" y="363016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896112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336499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Faixas por domínio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463040" y="373075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pd.cut com limites OMS / Guia BR — gera as colunas *_cat ordinais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46520" y="3218688"/>
            <a:ext cx="5440680" cy="123444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6446520" y="3218688"/>
            <a:ext cx="82296" cy="12344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6702552" y="363016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702552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269480" y="336499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Quantis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269480" y="373075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pd.qcut nos escores compostos (sem norma externa)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4654296"/>
            <a:ext cx="5440680" cy="123444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640080" y="4654296"/>
            <a:ext cx="82296" cy="12344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896112" y="506577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896112" y="5065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463040" y="48006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Verificação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1463040" y="51663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Prevalência da classe por faixa — a faixa discrimina?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46520" y="4654296"/>
            <a:ext cx="5440680" cy="123444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6446520" y="4654296"/>
            <a:ext cx="82296" cy="123444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6702552" y="5065776"/>
            <a:ext cx="420624" cy="420624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6702552" y="5065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269480" y="48006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Seleção &amp; Export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7269480" y="51663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Entropia+correlação sinalizam atributos; grava CSV + relatório JSON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NB04 · Discretização — PNS 2019 · Artrite em idosos ≥60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FUNDAMENTAÇÃO · CADA ETAPA ANCORADA NA TEORIA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onde vem cada decisão da discretização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72800" cy="3840480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 do NB04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Referência no SLIDE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Referência nos ARTIGOS do professor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Discretizar (transformar contínuo→faixa)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Introdução 12 — definição e tipos de discretização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 os 6 artigos categorizam variáveis antes do ML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Faixas por domínio (IMC, idade, ativ. física)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Introdução 12 — “intervalos pré-definidos” (não-superv.)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AVC, Depressão, DPOC, Hipertensão (OMS / Guia BR / NLM)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Quantis nos escores (equal-frequency)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Introdução 12 — “equal-frequency binning”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Rodrigues &amp; Zárate (2024, TOC) — discretização por percentis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Suavização de outliers pela faixa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Introdução 14 — Análise de Outliers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Carvalho &amp; Zárate (2024, HAS) — afirma explicitamente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Redução de dimensionalidade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Introdução 12 — discretização reduz dimensão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Cancella &amp; Zárate (2025) — fusão/redução de atributos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Entropia + correlação p/ SELEÇÃO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Introdução 15 — Análise de Entropia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Gonçalves &amp; Zárate (2024); Silva &amp; Zárate (2024)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 “risco crescente = nível maior”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 CAPTO — Zárate et al. (2023)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faixa foi escolhida ao acaso: cada etapa cita um slide do curso E um artigo do orientador que a respalda.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NB04 · Discretização — PNS 2019 · Artrite em idosos ≥60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ENTRADAS REAIS (SAÍDA DOS NB03/NB03B)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Dois desenhos de estudo discretizados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72800" cy="288036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Desenho 1 — Artrite pura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Desenho 2 — Artrite + comorbidades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Registros × atributos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4.826 × 46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8.357 × 54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Saudáveis (0)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artrite (1)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Razão de desbalanceamento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8,77 : 1  (severo → exige RUS)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1,08 : 1  (quase balanceado)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 _cat criadas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937760"/>
            <a:ext cx="10881360" cy="713232"/>
          </a:xfrm>
          <a:prstGeom prst="rect">
            <a:avLst/>
          </a:prstGeom>
          <a:solidFill>
            <a:srgbClr val="EEF6F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868680" y="497433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isso significa:  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mesmas regras de faixa (clínicas) servem aos dois desenhos. O NB04 detecta sozinho as colunas de cada um — por isso o Desenho 2 mantém as variáveis Q* (doenças) e o Desenho 1 não.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NB04 · Discretização — PNS 2019 · Artrite em idosos ≥60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· ETAPA 1 — INVENTÁRIO DAS 45 FEATURES (DESENHO 1)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apenas 5 foram discretizadas?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611880" cy="77724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22960" y="192938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 ·  DISCRETIZADAS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3611880" cy="233172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IMC, Idade (C008), Atividade física (P035), Escore Inflamatório, Escore Saudável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41148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únicas contínuas COM critério de faixa — por isso só 5. Não é uma seleção.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0" y="1783080"/>
            <a:ext cx="361188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754880" y="192938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  ·  JÁ CATEGÓRICAS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0" y="2560320"/>
            <a:ext cx="3611880" cy="233172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800600" y="274320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Dummies One-Hot do NB03 (sexo, plano de saúde, doenças Q*, consumo de sal…)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00600" y="41148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são categóricas — não há o que discretizar.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503920" y="1783080"/>
            <a:ext cx="3611880" cy="77724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686800" y="192938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 ·  NUMÉRICAS SEM FAIXA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503920" y="2560320"/>
            <a:ext cx="3611880" cy="233172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732520" y="274320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Consumos alimentares brutos (dias/sem.), peso, altura, Razão Inf/Saud…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732520" y="41148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norma externa de corte (não há “OMS de dias de feijão”) → seguem numéricas.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NB04 · Discretização — PNS 2019 · Artrite em idosos ≥60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· ETAPAS 3–4 — CORTES APLICADOS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faixa, sua fonte e a referência teórica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72800" cy="333756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Variável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Faixas (níveis ordinais)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Fonte do corte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Referência teórica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domínio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Baixo·Normal·Sobrep.·Obesid.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OMS — IMC adultos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Carvalho &amp; Zárate (2024); Gonçalves &amp; Zárate (2024)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Idade (C008)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domínio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60–69 · 70–79 · 80+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Subdiv. do idoso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Melo et al. (2024, DPOC); Carvalho &amp; Zárate (2024)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Ativ. física (P035)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domínio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Sedent.·Pouco·Mod.·Ativo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Guia Ativ. Física BR 2021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Gonçalves &amp; Zárate (2024); Carvalho &amp; Zárate (2024)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Escore Inflamatório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· Q2 · Q3 · Q4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Quartis da amostra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equal-frequency binning — slide Introdução 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Escore Saudável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· Q2 · Q3 · Q4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Quartis da amostra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equal-frequency binning — slide Introdução 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120640"/>
            <a:ext cx="10881360" cy="713232"/>
          </a:xfrm>
          <a:prstGeom prst="rect">
            <a:avLst/>
          </a:prstGeom>
          <a:solidFill>
            <a:srgbClr val="EEF6F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868680" y="515721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isso significa:  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faixas por domínio replicam exatamente o que os artigos do orientador fazem (IMC-OMS, atividade física pelo Guia BR); os escores usam o equal-frequency binning definido no slide. Cada corte é, portanto, ancorado na literatura — não arbitrário.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NB04 · Discretização — PNS 2019 · Artrite em idosos ≥60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· IMC DISCRETIZADO (OMS)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 1 — distribuição do IMC em faixas</a:t>
            </a:r>
            <a:endParaRPr lang="en-US" sz="3000" dirty="0"/>
          </a:p>
        </p:txBody>
      </p:sp>
      <p:pic>
        <p:nvPicPr>
          <p:cNvPr id="4" name="Image 0" descr="figuras/fig_imc_o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0562" y="1691640"/>
            <a:ext cx="7320395" cy="2971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4983480"/>
            <a:ext cx="10881360" cy="713232"/>
          </a:xfrm>
          <a:prstGeom prst="rect">
            <a:avLst/>
          </a:prstGeom>
          <a:solidFill>
            <a:srgbClr val="EEF6F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868680" y="502005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isso significa:  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Sobrepeso + Obesidade dominam os dois desenhos (D1: 2.328/4.826; D2: 4.673/8.357). A faixa da OMS preserva o sentido clínico — um corte automático pela mediana não diria nada ao médico.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NB04 · Discretização — PNS 2019 · Artrite em idosos ≥60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· VALIDAÇÃO CLÍNICA DAS FAIXAS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 2 — a faixa de IMC carrega risco?</a:t>
            </a:r>
            <a:endParaRPr lang="en-US" sz="3000" dirty="0"/>
          </a:p>
        </p:txBody>
      </p:sp>
      <p:pic>
        <p:nvPicPr>
          <p:cNvPr id="4" name="Image 0" descr="figuras/fig_grad_im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6217920" cy="35172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0" y="1874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Leitura do gráfico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315200" y="2331720"/>
            <a:ext cx="4206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Desenho 2, a prevalência de artrite sobe a cada faixa de excesso de peso: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38%  →  Sobrepeso 50%  →  Obesidade 67%.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faixa “Baixo peso” foge da tendência — 41% —, mas tem só 205 pessoas, o que explica a oscilação.)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é o que a literatura médica espera — a faixa da OMS, mesmo não-supervisionada, capturou um gradiente de risco real.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5806440"/>
            <a:ext cx="10881360" cy="713232"/>
          </a:xfrm>
          <a:prstGeom prst="rect">
            <a:avLst/>
          </a:prstGeom>
          <a:solidFill>
            <a:srgbClr val="EEF6F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868680" y="584301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isso significa:  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discretização não destruiu informação — preservou a relação dose-resposta entre obesidade e artrite. É a prova de que o corte por domínio foi uma boa escolha.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NB04 · Discretização — PNS 2019 · Artrite em idosos ≥60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· VALIDAÇÃO CLÍNICA DAS FAIXAS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 3 — a faixa etária carrega risco?</a:t>
            </a:r>
            <a:endParaRPr lang="en-US" sz="3000" dirty="0"/>
          </a:p>
        </p:txBody>
      </p:sp>
      <p:pic>
        <p:nvPicPr>
          <p:cNvPr id="4" name="Image 0" descr="figuras/fig_grad_ida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6217920" cy="35008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0" y="1874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Leitura do gráfico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315200" y="2331720"/>
            <a:ext cx="4206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faixa 80+ é a de maior risco nos dois desenhos: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Desenho 1:  9,7% · 9,5% · 15,2%  (salto no 80+)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Desenho 2:  43% · 54% · 57%  (crescente, +14 pp)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subdivisão 60–69 / 70–79 / 80+ separou grupos de risco distintos dentro da própria terceira idade — algo que a idade crua não evidenciaria.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5806440"/>
            <a:ext cx="10881360" cy="713232"/>
          </a:xfrm>
          <a:prstGeom prst="rect">
            <a:avLst/>
          </a:prstGeom>
          <a:solidFill>
            <a:srgbClr val="EEF6F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868680" y="584301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isso significa:  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discretizar o idoso em 3 faixas (em vez de manter a idade crua) revelou que o grupo 80+ é claramente o mais afetado — uma informação acionável para o artigo.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NB04 · Discretização — PNS 2019 · Artrite em idosos ≥60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· VERIFICAÇÃO DE PERDA DE INFORMAÇÃO (SLIDE INTRODUÇÃO 12)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 4 — as faixas discriminam a classe?</a:t>
            </a:r>
            <a:endParaRPr lang="en-US" sz="3000" dirty="0"/>
          </a:p>
        </p:txBody>
      </p:sp>
      <p:pic>
        <p:nvPicPr>
          <p:cNvPr id="4" name="Image 0" descr="figuras/fig_prevalencia_como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327" y="1645920"/>
            <a:ext cx="9062865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5029200"/>
            <a:ext cx="10881360" cy="713232"/>
          </a:xfrm>
          <a:prstGeom prst="rect">
            <a:avLst/>
          </a:prstGeom>
          <a:solidFill>
            <a:srgbClr val="EEF6F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868680" y="506577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isso significa:  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vermelho (artrite) cresce de forma clara nas faixas de IMC; nos escores por quartil o padrão é mais irregular (ver slide seguinte). Proporções diferentes entre níveis = faixa informativa — “reduzir a perda de informação é o objetivo da discretização” (slide).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NB04 · Discretização — PNS 2019 · Artrite em idosos ≥60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· ANÁLISE CRÍTICA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Dois pontos que merecem atenção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72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82296" cy="173736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60120" y="196596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Escore Inflamatório por quartis NÃO mostrou gradiente limpo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395728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Desenho 2 a prevalência por quartil foi 65% → 56% → 33% → 37% — sem monotonia. </a:t>
            </a: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quê: 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escore é uma soma de hábitos cortada por quartis da amostra (sem norma clínica). É uma limitação a discutir — e um argumento para, no futuro, buscar um corte com referência externa.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703320"/>
            <a:ext cx="10972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640080" y="3703320"/>
            <a:ext cx="82296" cy="17373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960120" y="38862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A faixa “Sedentário” (P035 = 0) ficou vazia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4315968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registro caiu no nível 0 de atividade física. </a:t>
            </a: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quê: 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não pratica já foi tratado pelo skip pattern no NB03 (via P034). Os que chegaram ao NB04 têm P035 ≥ 1 dia. Não é bug — é coerência do pipeline, mas vale registrar para não confundir na leitura.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NB04 · Discretização — PNS 2019 · Artrite em idosos ≥60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 PRINCIPAL · SLIDE CONSEQUÊNCIA VS. CAUSALIDADE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 5 — entropia + correlação revelam o leakage</a:t>
            </a:r>
            <a:endParaRPr lang="en-US" sz="2800" dirty="0"/>
          </a:p>
        </p:txBody>
      </p:sp>
      <p:pic>
        <p:nvPicPr>
          <p:cNvPr id="4" name="Image 0" descr="figuras/fig_leak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7301" y="1691640"/>
            <a:ext cx="8426918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5056632"/>
            <a:ext cx="10972800" cy="868680"/>
          </a:xfrm>
          <a:prstGeom prst="rect">
            <a:avLst/>
          </a:prstGeom>
          <a:solidFill>
            <a:srgbClr val="FBEEEC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868680" y="5166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Desenho 1: 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máxima com o alvo = 0,14.   </a:t>
            </a: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Desenho 2: 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hipertensão (Q00201) atinge 0,70 e foi sinalizada como “alta_corr_alvo” — uma variável-consequência usada para definir o próprio controle “saudável”.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NB04 · Discretização — PNS 2019 · Artrite em idosos ≥60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INTERPRETAÇÃO · POR QUE O ACHADO IMPORTA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o data leakage significa para o trabalho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40680" cy="187452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82296" cy="18745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194767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problema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404872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Desenho 2, o controle “saudável” foi definido como quem NÃO tem nenhuma doença Q*. Logo, hipertensão (uma Q*) prediz o alvo quase trivialmente — é consequência da definição, não causa da artrite.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46520" y="1783080"/>
            <a:ext cx="5440680" cy="187452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6446520" y="1783080"/>
            <a:ext cx="82296" cy="1874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720840" y="194767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conceito (slide)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20840" y="2404872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slide “Consequência vs. Causalidade” alerta: usar variáveis-consequência leva a modelos “Naïve”, com acurácia inflada e sem valor explicativo real.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5440680" cy="187452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82296" cy="1874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914400" y="409651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evidência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4553712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entropia+correlação do NB04 quantificou isso: 0,70 vs. 0,14. O número confirma, empiricamente, o risco que era só teórico.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46520" y="3931920"/>
            <a:ext cx="5440680" cy="187452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8F5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446520" y="3931920"/>
            <a:ext cx="82296" cy="187452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720840" y="409651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ação no NB05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20840" y="4553712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Modelo A (com Q*) e Modelo B (sem Q*) — análise de sensibilidade. Comparar mostra quanto da performance vinha do leakage.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NB04 · Discretização — PNS 2019 · Artrite em idosos ≥60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· SLIDES + ARTIGOS DO ORIENTADOR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decisão ancorada na literatura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728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73152" cy="768096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1837944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IMC / Idade / Ativ. física por faixa de domínio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0" y="1837944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AVC, Depressão, DPOC, HAS — todos usam OMS / Guia BR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60904"/>
            <a:ext cx="109728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640080" y="2660904"/>
            <a:ext cx="73152" cy="768096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914400" y="2715768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Discretização suaviza outliers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0" y="2715768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Artigo de Hipertensão (CBIS'24), seção de preparação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538728"/>
            <a:ext cx="109728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640080" y="3538728"/>
            <a:ext cx="73152" cy="768096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914400" y="3593592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Entropia + correlação só para selecionar atributos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32320" y="3593592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AVC e Depressão — etapa “Remoção por Entropia/Correlação”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416552"/>
            <a:ext cx="109728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40080" y="4416552"/>
            <a:ext cx="73152" cy="76809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914400" y="4471416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Hipertensão = variável-consequência (leakage)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32320" y="4471416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Consequência vs. Causalidade + aviso do NB03b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294376"/>
            <a:ext cx="109728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640080" y="5294376"/>
            <a:ext cx="73152" cy="768096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914400" y="534924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“risco crescente = nível maior”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32320" y="5349240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CAPTO (Zárate et al., 2023), comum a todos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NB04 · Discretização — PNS 2019 · Artrite em idosos ≥60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Fundamentação teórica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Slides da disciplina (Prof. Zárate)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5349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6 — O Processo (KDD). Etapas de Fayyad et al. (1996).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12 — Preparação dos dados. Definição, tipos e métodos de discretização (largura, frequência, supervisionada).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14 — Análise de Outliers.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15 — Análise de Entropia (seleção de atributos).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 vs. Causalidade — risco de variável-consequência.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263640" y="1645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Artigos do orientador (PNS 2019)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63640" y="2103120"/>
            <a:ext cx="5349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GONÇALVES, L. F. C.; ZÁRATE, L. E. Comparação de perfis de AVC entre idosos e adultos. SBBD Companion, 2024.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SILVA, P. H. R.; ZÁRATE, L. E. Caracterização da depressão em adultos no Brasil. SBBD Companion, 2024.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CANCELLA, L. F. R.; ZÁRATE, L. E. Perfil Artrite-Depressão. SBBD Companion, 2025.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RODRIGUES, A. P. C.; ZÁRATE, L. E. Fatores socioambientais no TOC. SBBD, 2024.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MELO, R. P. N.; GOMES, M. P. S.; ZÁRATE, L. E. ML no diagnóstico de DPOC. J. Health Inform. (CBIS), 2024.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CARVALHO, N. M.; GOMES, M. P. S.; ZÁRATE, L. E. Mineração no diagnóstico de hipertensão. J. Health Inform. (CBIS), 2024.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ZÁRATE, L. E. et al. CAPTO — método de entendimento de domínio. Concilium, v.23, p.922–941, 2023.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NB04 · Discretização — PNS 2019 · Artrite em idosos ≥60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a discretização entregou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68680" y="1984248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68680" y="1984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192938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datasets prontos para o ML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17320" y="23317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4.826×46 e 8.357×54 features. A discretização criou 5 novas variáveis categóricas ordinais (IMC, idade, ativ. física e 2 escores).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297180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6868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17320" y="29169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Faixas com sentido clínico e gradiente de risco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17320" y="331927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IMC e idade confirmaram dose-resposta (obesidade 67%, 80+ 57% no Desenho 2).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3959352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68680" y="3959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17320" y="390448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Cortes rastreáveis e citáveis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4306824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faixa tem fonte (OMS / Guia BR) no JSON — base direta da seção de Métodos.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68680" y="4946904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68680" y="4946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489204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Leakage comprovado com número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17320" y="5294376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Hipertensão 0,70 vs. 0,14 — sustenta a análise de sensibilidade (Modelo A vs B).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2960" y="5897880"/>
            <a:ext cx="10515600" cy="658368"/>
          </a:xfrm>
          <a:prstGeom prst="rect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1051560" y="599846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 → NB05 (Modelagem):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Logística · Árvore · Random Forest · RUS na CV · F1-macro · Modelo A (com Q*) vs B (sem Q*).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3170</Words>
  <Application>Microsoft Office PowerPoint</Application>
  <PresentationFormat>Widescreen</PresentationFormat>
  <Paragraphs>356</Paragraphs>
  <Slides>23</Slides>
  <Notes>23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7" baseType="lpstr">
      <vt:lpstr>Arial</vt:lpstr>
      <vt:lpstr>Calibri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Discretização — PNS 2019 Artrite</dc:title>
  <dc:subject>PptxGenJS Presentation</dc:subject>
  <dc:creator>Pedro Dias Soares</dc:creator>
  <cp:lastModifiedBy>PEDRO DIAS SOARES</cp:lastModifiedBy>
  <cp:revision>2</cp:revision>
  <dcterms:created xsi:type="dcterms:W3CDTF">2026-05-31T18:36:31Z</dcterms:created>
  <dcterms:modified xsi:type="dcterms:W3CDTF">2026-05-31T18:44:18Z</dcterms:modified>
</cp:coreProperties>
</file>